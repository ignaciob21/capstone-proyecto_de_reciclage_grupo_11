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Telegraf 1 Medium" charset="1" panose="00000600000000000000"/>
      <p:regular r:id="rId22"/>
    </p:embeddedFont>
    <p:embeddedFont>
      <p:font typeface="Inter" charset="1" panose="020B0502030000000004"/>
      <p:regular r:id="rId23"/>
    </p:embeddedFont>
    <p:embeddedFont>
      <p:font typeface="Neue Montreal Medium" charset="1" panose="00000400000000000000"/>
      <p:regular r:id="rId24"/>
    </p:embeddedFont>
    <p:embeddedFont>
      <p:font typeface="Inter Bold" charset="1" panose="020B0802030000000004"/>
      <p:regular r:id="rId25"/>
    </p:embeddedFont>
    <p:embeddedFont>
      <p:font typeface="Aileron" charset="1" panose="00000500000000000000"/>
      <p:regular r:id="rId26"/>
    </p:embeddedFont>
    <p:embeddedFont>
      <p:font typeface="Inter Medium" charset="1" panose="02000503000000020004"/>
      <p:regular r:id="rId27"/>
    </p:embeddedFont>
    <p:embeddedFont>
      <p:font typeface="Telegraf 2 Medium" charset="1" panose="00000600000000000000"/>
      <p:regular r:id="rId28"/>
    </p:embeddedFont>
    <p:embeddedFont>
      <p:font typeface="Open Sauce Medium" charset="1" panose="00000600000000000000"/>
      <p:regular r:id="rId29"/>
    </p:embeddedFont>
    <p:embeddedFont>
      <p:font typeface="Inter Ultra-Bold" charset="1" panose="02000503000000020004"/>
      <p:regular r:id="rId30"/>
    </p:embeddedFont>
    <p:embeddedFont>
      <p:font typeface="Inter Semi-Bold" charset="1" panose="02000503000000020004"/>
      <p:regular r:id="rId31"/>
    </p:embeddedFont>
    <p:embeddedFont>
      <p:font typeface="Bricolage Grotesque" charset="1" panose="020B0605040402000204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png" Type="http://schemas.openxmlformats.org/officeDocument/2006/relationships/image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Relationship Id="rId8" Target="../media/image8.png" Type="http://schemas.openxmlformats.org/officeDocument/2006/relationships/image"/><Relationship Id="rId9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png" Type="http://schemas.openxmlformats.org/officeDocument/2006/relationships/image"/><Relationship Id="rId12" Target="../media/image25.png" Type="http://schemas.openxmlformats.org/officeDocument/2006/relationships/image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Relationship Id="rId8" Target="../media/image21.pn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png" Type="http://schemas.openxmlformats.org/officeDocument/2006/relationships/image"/><Relationship Id="rId11" Target="../media/image39.png" Type="http://schemas.openxmlformats.org/officeDocument/2006/relationships/image"/><Relationship Id="rId12" Target="../media/image40.png" Type="http://schemas.openxmlformats.org/officeDocument/2006/relationships/image"/><Relationship Id="rId13" Target="../media/image41.png" Type="http://schemas.openxmlformats.org/officeDocument/2006/relationships/image"/><Relationship Id="rId2" Target="../media/image30.png" Type="http://schemas.openxmlformats.org/officeDocument/2006/relationships/image"/><Relationship Id="rId3" Target="../media/image31.png" Type="http://schemas.openxmlformats.org/officeDocument/2006/relationships/image"/><Relationship Id="rId4" Target="../media/image32.png" Type="http://schemas.openxmlformats.org/officeDocument/2006/relationships/image"/><Relationship Id="rId5" Target="../media/image33.png" Type="http://schemas.openxmlformats.org/officeDocument/2006/relationships/image"/><Relationship Id="rId6" Target="../media/image34.png" Type="http://schemas.openxmlformats.org/officeDocument/2006/relationships/image"/><Relationship Id="rId7" Target="../media/image35.png" Type="http://schemas.openxmlformats.org/officeDocument/2006/relationships/image"/><Relationship Id="rId8" Target="../media/image36.png" Type="http://schemas.openxmlformats.org/officeDocument/2006/relationships/image"/><Relationship Id="rId9" Target="../media/image3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0.png" Type="http://schemas.openxmlformats.org/officeDocument/2006/relationships/image"/><Relationship Id="rId11" Target="../media/image51.png" Type="http://schemas.openxmlformats.org/officeDocument/2006/relationships/image"/><Relationship Id="rId12" Target="../media/image52.png" Type="http://schemas.openxmlformats.org/officeDocument/2006/relationships/image"/><Relationship Id="rId13" Target="../media/image53.png" Type="http://schemas.openxmlformats.org/officeDocument/2006/relationships/image"/><Relationship Id="rId14" Target="../media/image54.png" Type="http://schemas.openxmlformats.org/officeDocument/2006/relationships/image"/><Relationship Id="rId15" Target="../media/image55.png" Type="http://schemas.openxmlformats.org/officeDocument/2006/relationships/image"/><Relationship Id="rId16" Target="../media/image56.png" Type="http://schemas.openxmlformats.org/officeDocument/2006/relationships/image"/><Relationship Id="rId17" Target="../media/image57.png" Type="http://schemas.openxmlformats.org/officeDocument/2006/relationships/image"/><Relationship Id="rId18" Target="../media/image58.png" Type="http://schemas.openxmlformats.org/officeDocument/2006/relationships/image"/><Relationship Id="rId19" Target="../media/image59.png" Type="http://schemas.openxmlformats.org/officeDocument/2006/relationships/image"/><Relationship Id="rId2" Target="../media/image42.png" Type="http://schemas.openxmlformats.org/officeDocument/2006/relationships/image"/><Relationship Id="rId20" Target="../media/image60.png" Type="http://schemas.openxmlformats.org/officeDocument/2006/relationships/image"/><Relationship Id="rId21" Target="../media/image61.png" Type="http://schemas.openxmlformats.org/officeDocument/2006/relationships/image"/><Relationship Id="rId22" Target="../media/image62.png" Type="http://schemas.openxmlformats.org/officeDocument/2006/relationships/image"/><Relationship Id="rId23" Target="../media/image63.png" Type="http://schemas.openxmlformats.org/officeDocument/2006/relationships/image"/><Relationship Id="rId24" Target="../media/image64.png" Type="http://schemas.openxmlformats.org/officeDocument/2006/relationships/image"/><Relationship Id="rId25" Target="../media/image65.png" Type="http://schemas.openxmlformats.org/officeDocument/2006/relationships/image"/><Relationship Id="rId26" Target="../media/image66.png" Type="http://schemas.openxmlformats.org/officeDocument/2006/relationships/image"/><Relationship Id="rId3" Target="../media/image43.png" Type="http://schemas.openxmlformats.org/officeDocument/2006/relationships/image"/><Relationship Id="rId4" Target="../media/image44.png" Type="http://schemas.openxmlformats.org/officeDocument/2006/relationships/image"/><Relationship Id="rId5" Target="../media/image45.png" Type="http://schemas.openxmlformats.org/officeDocument/2006/relationships/image"/><Relationship Id="rId6" Target="../media/image46.png" Type="http://schemas.openxmlformats.org/officeDocument/2006/relationships/image"/><Relationship Id="rId7" Target="../media/image47.png" Type="http://schemas.openxmlformats.org/officeDocument/2006/relationships/image"/><Relationship Id="rId8" Target="../media/image48.png" Type="http://schemas.openxmlformats.org/officeDocument/2006/relationships/image"/><Relationship Id="rId9" Target="../media/image4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8.png" Type="http://schemas.openxmlformats.org/officeDocument/2006/relationships/image"/><Relationship Id="rId3" Target="../media/image69.png" Type="http://schemas.openxmlformats.org/officeDocument/2006/relationships/image"/><Relationship Id="rId4" Target="../media/image70.png" Type="http://schemas.openxmlformats.org/officeDocument/2006/relationships/image"/><Relationship Id="rId5" Target="../media/image71.png" Type="http://schemas.openxmlformats.org/officeDocument/2006/relationships/image"/><Relationship Id="rId6" Target="../media/image72.png" Type="http://schemas.openxmlformats.org/officeDocument/2006/relationships/image"/><Relationship Id="rId7" Target="../media/image73.jpeg" Type="http://schemas.openxmlformats.org/officeDocument/2006/relationships/image"/><Relationship Id="rId8" Target="../media/image28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5.png" Type="http://schemas.openxmlformats.org/officeDocument/2006/relationships/image"/><Relationship Id="rId3" Target="../media/image76.png" Type="http://schemas.openxmlformats.org/officeDocument/2006/relationships/image"/><Relationship Id="rId4" Target="../media/image77.png" Type="http://schemas.openxmlformats.org/officeDocument/2006/relationships/image"/><Relationship Id="rId5" Target="../media/image78.png" Type="http://schemas.openxmlformats.org/officeDocument/2006/relationships/image"/><Relationship Id="rId6" Target="../media/image79.png" Type="http://schemas.openxmlformats.org/officeDocument/2006/relationships/image"/><Relationship Id="rId7" Target="../media/image80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1.png" Type="http://schemas.openxmlformats.org/officeDocument/2006/relationships/image"/><Relationship Id="rId3" Target="../media/image82.png" Type="http://schemas.openxmlformats.org/officeDocument/2006/relationships/image"/><Relationship Id="rId4" Target="../media/image8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24000" y="6352603"/>
            <a:ext cx="293972" cy="29397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95F3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24000" y="2500069"/>
            <a:ext cx="15240000" cy="3378217"/>
            <a:chOff x="0" y="0"/>
            <a:chExt cx="2361075" cy="52337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61075" cy="523374"/>
            </a:xfrm>
            <a:custGeom>
              <a:avLst/>
              <a:gdLst/>
              <a:ahLst/>
              <a:cxnLst/>
              <a:rect r="r" b="b" t="t" l="l"/>
              <a:pathLst>
                <a:path h="523374" w="2361075">
                  <a:moveTo>
                    <a:pt x="0" y="0"/>
                  </a:moveTo>
                  <a:lnTo>
                    <a:pt x="2361075" y="0"/>
                  </a:lnTo>
                  <a:lnTo>
                    <a:pt x="2361075" y="523374"/>
                  </a:lnTo>
                  <a:lnTo>
                    <a:pt x="0" y="523374"/>
                  </a:lnTo>
                  <a:close/>
                </a:path>
              </a:pathLst>
            </a:custGeom>
            <a:blipFill>
              <a:blip r:embed="rId2"/>
              <a:stretch>
                <a:fillRect l="0" t="-100422" r="0" b="-100422"/>
              </a:stretch>
            </a:blipFill>
            <a:ln w="19050" cap="sq">
              <a:solidFill>
                <a:srgbClr val="464646"/>
              </a:solidFill>
              <a:prstDash val="solid"/>
              <a:miter/>
            </a:ln>
          </p:spPr>
        </p:sp>
      </p:grpSp>
      <p:sp>
        <p:nvSpPr>
          <p:cNvPr name="AutoShape 7" id="7"/>
          <p:cNvSpPr/>
          <p:nvPr/>
        </p:nvSpPr>
        <p:spPr>
          <a:xfrm>
            <a:off x="1526447" y="1483859"/>
            <a:ext cx="1523755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524000" y="1483859"/>
            <a:ext cx="6096000" cy="0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1524000" y="4347523"/>
            <a:ext cx="8605720" cy="1530763"/>
            <a:chOff x="0" y="0"/>
            <a:chExt cx="2266527" cy="40316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66527" cy="403164"/>
            </a:xfrm>
            <a:custGeom>
              <a:avLst/>
              <a:gdLst/>
              <a:ahLst/>
              <a:cxnLst/>
              <a:rect r="r" b="b" t="t" l="l"/>
              <a:pathLst>
                <a:path h="403164" w="2266527">
                  <a:moveTo>
                    <a:pt x="0" y="0"/>
                  </a:moveTo>
                  <a:lnTo>
                    <a:pt x="2266527" y="0"/>
                  </a:lnTo>
                  <a:lnTo>
                    <a:pt x="2266527" y="403164"/>
                  </a:lnTo>
                  <a:lnTo>
                    <a:pt x="0" y="403164"/>
                  </a:lnTo>
                  <a:close/>
                </a:path>
              </a:pathLst>
            </a:custGeom>
            <a:solidFill>
              <a:srgbClr val="F2F1FB"/>
            </a:solidFill>
            <a:ln w="19050" cap="sq">
              <a:solidFill>
                <a:srgbClr val="464646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266527" cy="441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820419" y="4718922"/>
            <a:ext cx="7763845" cy="972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51"/>
              </a:lnSpc>
              <a:spcBef>
                <a:spcPct val="0"/>
              </a:spcBef>
            </a:pPr>
            <a:r>
              <a:rPr lang="en-US" b="true" sz="7199" spc="-503" strike="noStrike" u="none">
                <a:solidFill>
                  <a:srgbClr val="464646"/>
                </a:solidFill>
                <a:latin typeface="Telegraf 1 Medium"/>
                <a:ea typeface="Telegraf 1 Medium"/>
                <a:cs typeface="Telegraf 1 Medium"/>
                <a:sym typeface="Telegraf 1 Medium"/>
              </a:rPr>
              <a:t>REBIN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22858" y="6272875"/>
            <a:ext cx="5903214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 spc="-129" strike="noStrike" u="non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Conectando a quienes reciclan con quienes administran los puntos de reciclaje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22858" y="7123741"/>
            <a:ext cx="5903214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Ignacio Aguilar · Nicolás Zuñiga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21559" y="7043731"/>
            <a:ext cx="753529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Proyecto de título · Octubre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01598" y="852695"/>
            <a:ext cx="15466048" cy="229572"/>
          </a:xfrm>
          <a:custGeom>
            <a:avLst/>
            <a:gdLst/>
            <a:ahLst/>
            <a:cxnLst/>
            <a:rect r="r" b="b" t="t" l="l"/>
            <a:pathLst>
              <a:path h="229572" w="15466048">
                <a:moveTo>
                  <a:pt x="0" y="0"/>
                </a:moveTo>
                <a:lnTo>
                  <a:pt x="15466048" y="0"/>
                </a:lnTo>
                <a:lnTo>
                  <a:pt x="1546604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204058" y="1814293"/>
            <a:ext cx="3879885" cy="821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87"/>
              </a:lnSpc>
            </a:pPr>
            <a:r>
              <a:rPr lang="en-US" sz="6287" spc="-187" b="true">
                <a:solidFill>
                  <a:srgbClr val="4D4D4D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Hoja de ruta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2597435" y="3441864"/>
            <a:ext cx="901313" cy="871298"/>
          </a:xfrm>
          <a:custGeom>
            <a:avLst/>
            <a:gdLst/>
            <a:ahLst/>
            <a:cxnLst/>
            <a:rect r="r" b="b" t="t" l="l"/>
            <a:pathLst>
              <a:path h="871298" w="901313">
                <a:moveTo>
                  <a:pt x="0" y="0"/>
                </a:moveTo>
                <a:lnTo>
                  <a:pt x="901312" y="0"/>
                </a:lnTo>
                <a:lnTo>
                  <a:pt x="901312" y="871299"/>
                </a:lnTo>
                <a:lnTo>
                  <a:pt x="0" y="8712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344465" y="3743518"/>
            <a:ext cx="2187888" cy="428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3360" spc="-167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El problema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2597435" y="4298395"/>
            <a:ext cx="901313" cy="605478"/>
          </a:xfrm>
          <a:custGeom>
            <a:avLst/>
            <a:gdLst/>
            <a:ahLst/>
            <a:cxnLst/>
            <a:rect r="r" b="b" t="t" l="l"/>
            <a:pathLst>
              <a:path h="605478" w="901313">
                <a:moveTo>
                  <a:pt x="0" y="0"/>
                </a:moveTo>
                <a:lnTo>
                  <a:pt x="901312" y="0"/>
                </a:lnTo>
                <a:lnTo>
                  <a:pt x="901312" y="605478"/>
                </a:lnTo>
                <a:lnTo>
                  <a:pt x="0" y="6054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348915" y="4374224"/>
            <a:ext cx="1742869" cy="428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3360" spc="-167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Objetivos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2597435" y="4889105"/>
            <a:ext cx="901313" cy="590711"/>
          </a:xfrm>
          <a:custGeom>
            <a:avLst/>
            <a:gdLst/>
            <a:ahLst/>
            <a:cxnLst/>
            <a:rect r="r" b="b" t="t" l="l"/>
            <a:pathLst>
              <a:path h="590711" w="901313">
                <a:moveTo>
                  <a:pt x="0" y="0"/>
                </a:moveTo>
                <a:lnTo>
                  <a:pt x="901312" y="0"/>
                </a:lnTo>
                <a:lnTo>
                  <a:pt x="901312" y="590711"/>
                </a:lnTo>
                <a:lnTo>
                  <a:pt x="0" y="5907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345434" y="5004929"/>
            <a:ext cx="2091007" cy="428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3360" spc="-167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La solución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597435" y="5465048"/>
            <a:ext cx="901313" cy="886066"/>
          </a:xfrm>
          <a:custGeom>
            <a:avLst/>
            <a:gdLst/>
            <a:ahLst/>
            <a:cxnLst/>
            <a:rect r="r" b="b" t="t" l="l"/>
            <a:pathLst>
              <a:path h="886066" w="901313">
                <a:moveTo>
                  <a:pt x="0" y="0"/>
                </a:moveTo>
                <a:lnTo>
                  <a:pt x="901312" y="0"/>
                </a:lnTo>
                <a:lnTo>
                  <a:pt x="901312" y="886066"/>
                </a:lnTo>
                <a:lnTo>
                  <a:pt x="0" y="8860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597435" y="6040991"/>
            <a:ext cx="901313" cy="886066"/>
          </a:xfrm>
          <a:custGeom>
            <a:avLst/>
            <a:gdLst/>
            <a:ahLst/>
            <a:cxnLst/>
            <a:rect r="r" b="b" t="t" l="l"/>
            <a:pathLst>
              <a:path h="886066" w="901313">
                <a:moveTo>
                  <a:pt x="0" y="0"/>
                </a:moveTo>
                <a:lnTo>
                  <a:pt x="901312" y="0"/>
                </a:lnTo>
                <a:lnTo>
                  <a:pt x="901312" y="886066"/>
                </a:lnTo>
                <a:lnTo>
                  <a:pt x="0" y="8860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597435" y="6912289"/>
            <a:ext cx="901313" cy="590711"/>
          </a:xfrm>
          <a:custGeom>
            <a:avLst/>
            <a:gdLst/>
            <a:ahLst/>
            <a:cxnLst/>
            <a:rect r="r" b="b" t="t" l="l"/>
            <a:pathLst>
              <a:path h="590711" w="901313">
                <a:moveTo>
                  <a:pt x="0" y="0"/>
                </a:moveTo>
                <a:lnTo>
                  <a:pt x="901312" y="0"/>
                </a:lnTo>
                <a:lnTo>
                  <a:pt x="901312" y="590711"/>
                </a:lnTo>
                <a:lnTo>
                  <a:pt x="0" y="59071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318069" y="6958082"/>
            <a:ext cx="4827473" cy="428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3360" spc="-167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Arquitectura y tecnologías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2597435" y="7488232"/>
            <a:ext cx="901313" cy="590711"/>
          </a:xfrm>
          <a:custGeom>
            <a:avLst/>
            <a:gdLst/>
            <a:ahLst/>
            <a:cxnLst/>
            <a:rect r="r" b="b" t="t" l="l"/>
            <a:pathLst>
              <a:path h="590711" w="901313">
                <a:moveTo>
                  <a:pt x="0" y="0"/>
                </a:moveTo>
                <a:lnTo>
                  <a:pt x="901312" y="0"/>
                </a:lnTo>
                <a:lnTo>
                  <a:pt x="901312" y="590711"/>
                </a:lnTo>
                <a:lnTo>
                  <a:pt x="0" y="5907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355078" y="7609132"/>
            <a:ext cx="1126616" cy="428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3360" spc="-167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Demo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2597435" y="8064175"/>
            <a:ext cx="901313" cy="590711"/>
          </a:xfrm>
          <a:custGeom>
            <a:avLst/>
            <a:gdLst/>
            <a:ahLst/>
            <a:cxnLst/>
            <a:rect r="r" b="b" t="t" l="l"/>
            <a:pathLst>
              <a:path h="590711" w="901313">
                <a:moveTo>
                  <a:pt x="0" y="0"/>
                </a:moveTo>
                <a:lnTo>
                  <a:pt x="901312" y="0"/>
                </a:lnTo>
                <a:lnTo>
                  <a:pt x="901312" y="590711"/>
                </a:lnTo>
                <a:lnTo>
                  <a:pt x="0" y="59071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7" id="17"/>
          <p:cNvSpPr txBox="true"/>
          <p:nvPr/>
        </p:nvSpPr>
        <p:spPr>
          <a:xfrm rot="0">
            <a:off x="3336758" y="8219493"/>
            <a:ext cx="2958568" cy="428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3360" spc="-167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Próximos pasos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343174" y="5676325"/>
            <a:ext cx="2316989" cy="428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3360" spc="-167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Metodología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342914" y="6307031"/>
            <a:ext cx="2342951" cy="428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3360" spc="-167">
                <a:solidFill>
                  <a:srgbClr val="4D4D4D"/>
                </a:solidFill>
                <a:latin typeface="Inter"/>
                <a:ea typeface="Inter"/>
                <a:cs typeface="Inter"/>
                <a:sym typeface="Inter"/>
              </a:rPr>
              <a:t>Cronograma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0287000" y="3143250"/>
            <a:ext cx="5810250" cy="5810250"/>
          </a:xfrm>
          <a:custGeom>
            <a:avLst/>
            <a:gdLst/>
            <a:ahLst/>
            <a:cxnLst/>
            <a:rect r="r" b="b" t="t" l="l"/>
            <a:pathLst>
              <a:path h="5810250" w="5810250">
                <a:moveTo>
                  <a:pt x="0" y="0"/>
                </a:moveTo>
                <a:lnTo>
                  <a:pt x="5810250" y="0"/>
                </a:lnTo>
                <a:lnTo>
                  <a:pt x="5810250" y="5810250"/>
                </a:lnTo>
                <a:lnTo>
                  <a:pt x="0" y="58102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2F1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24000" y="2454085"/>
            <a:ext cx="7920927" cy="1287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10"/>
              </a:lnSpc>
              <a:spcBef>
                <a:spcPct val="0"/>
              </a:spcBef>
            </a:pPr>
            <a:r>
              <a:rPr lang="en-US" b="true" sz="9000" spc="-630" strike="noStrike" u="none">
                <a:solidFill>
                  <a:srgbClr val="464646"/>
                </a:solidFill>
                <a:latin typeface="Telegraf 1 Medium"/>
                <a:ea typeface="Telegraf 1 Medium"/>
                <a:cs typeface="Telegraf 1 Medium"/>
                <a:sym typeface="Telegraf 1 Medium"/>
              </a:rPr>
              <a:t>El problema</a:t>
            </a:r>
          </a:p>
        </p:txBody>
      </p:sp>
      <p:sp>
        <p:nvSpPr>
          <p:cNvPr name="AutoShape 3" id="3"/>
          <p:cNvSpPr/>
          <p:nvPr/>
        </p:nvSpPr>
        <p:spPr>
          <a:xfrm>
            <a:off x="1526447" y="1483859"/>
            <a:ext cx="1523755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524000" y="1483859"/>
            <a:ext cx="1524000" cy="0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0036883" y="9248775"/>
            <a:ext cx="6727117" cy="0"/>
          </a:xfrm>
          <a:prstGeom prst="line">
            <a:avLst/>
          </a:prstGeom>
          <a:ln cap="flat" w="19050">
            <a:solidFill>
              <a:srgbClr val="46464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524000" y="7221727"/>
            <a:ext cx="7620000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 strike="noStrike" u="non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Menos información → Peores experiencias → Menos reciclaje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24000" y="4052728"/>
            <a:ext cx="7744691" cy="1810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Para el ciudadano</a:t>
            </a:r>
          </a:p>
          <a:p>
            <a:pPr algn="just">
              <a:lnSpc>
                <a:spcPts val="3639"/>
              </a:lnSpc>
            </a:pPr>
            <a:r>
              <a:rPr lang="en-US" sz="259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No sabe dónde reciclar ni qué recibe cada punto.</a:t>
            </a:r>
          </a:p>
          <a:p>
            <a:pPr algn="just">
              <a:lnSpc>
                <a:spcPts val="3639"/>
              </a:lnSpc>
            </a:pPr>
            <a:r>
              <a:rPr lang="en-US" sz="259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Llega y el punto está lleno, dañado o cerrado.</a:t>
            </a:r>
          </a:p>
          <a:p>
            <a:pPr algn="just">
              <a:lnSpc>
                <a:spcPts val="3639"/>
              </a:lnSpc>
            </a:pPr>
            <a:r>
              <a:rPr lang="en-US" sz="259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No tiene cómo reportar fallas ni recibe beneficio.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48765" y="4052728"/>
            <a:ext cx="6724650" cy="1810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Para la municipalidad</a:t>
            </a:r>
          </a:p>
          <a:p>
            <a:pPr algn="just">
              <a:lnSpc>
                <a:spcPts val="3639"/>
              </a:lnSpc>
            </a:pPr>
            <a:r>
              <a:rPr lang="en-US" sz="259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Se entera tarde, por reclamos aislados.</a:t>
            </a:r>
          </a:p>
          <a:p>
            <a:pPr algn="just">
              <a:lnSpc>
                <a:spcPts val="3639"/>
              </a:lnSpc>
            </a:pPr>
            <a:r>
              <a:rPr lang="en-US" sz="259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No tiene un registro al día de sus puntos.</a:t>
            </a:r>
          </a:p>
          <a:p>
            <a:pPr algn="just">
              <a:lnSpc>
                <a:spcPts val="3639"/>
              </a:lnSpc>
            </a:pPr>
            <a:r>
              <a:rPr lang="en-US" sz="259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Prioriza rutas y mantención sin datos.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01598" y="1279043"/>
            <a:ext cx="15466048" cy="437279"/>
          </a:xfrm>
          <a:custGeom>
            <a:avLst/>
            <a:gdLst/>
            <a:ahLst/>
            <a:cxnLst/>
            <a:rect r="r" b="b" t="t" l="l"/>
            <a:pathLst>
              <a:path h="437279" w="15466048">
                <a:moveTo>
                  <a:pt x="0" y="0"/>
                </a:moveTo>
                <a:lnTo>
                  <a:pt x="15466048" y="0"/>
                </a:lnTo>
                <a:lnTo>
                  <a:pt x="1546604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01598" y="2350377"/>
            <a:ext cx="15466048" cy="7302567"/>
          </a:xfrm>
          <a:custGeom>
            <a:avLst/>
            <a:gdLst/>
            <a:ahLst/>
            <a:cxnLst/>
            <a:rect r="r" b="b" t="t" l="l"/>
            <a:pathLst>
              <a:path h="7302567" w="15466048">
                <a:moveTo>
                  <a:pt x="0" y="0"/>
                </a:moveTo>
                <a:lnTo>
                  <a:pt x="15466048" y="0"/>
                </a:lnTo>
                <a:lnTo>
                  <a:pt x="15466048" y="7302568"/>
                </a:lnTo>
                <a:lnTo>
                  <a:pt x="0" y="73025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320622" y="2350377"/>
            <a:ext cx="5447024" cy="1727254"/>
          </a:xfrm>
          <a:custGeom>
            <a:avLst/>
            <a:gdLst/>
            <a:ahLst/>
            <a:cxnLst/>
            <a:rect r="r" b="b" t="t" l="l"/>
            <a:pathLst>
              <a:path h="1727254" w="5447024">
                <a:moveTo>
                  <a:pt x="0" y="0"/>
                </a:moveTo>
                <a:lnTo>
                  <a:pt x="5447024" y="0"/>
                </a:lnTo>
                <a:lnTo>
                  <a:pt x="5447024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84985" y="2842140"/>
            <a:ext cx="6346080" cy="994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43"/>
              </a:lnSpc>
            </a:pPr>
            <a:r>
              <a:rPr lang="en-US" sz="7543" spc="-453">
                <a:solidFill>
                  <a:srgbClr val="404040"/>
                </a:solidFill>
                <a:latin typeface="Aileron"/>
                <a:ea typeface="Aileron"/>
                <a:cs typeface="Aileron"/>
                <a:sym typeface="Aileron"/>
              </a:rPr>
              <a:t>Objetivo general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955554" y="4783993"/>
            <a:ext cx="12112575" cy="3843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0"/>
              </a:lnSpc>
            </a:pPr>
            <a:r>
              <a:rPr lang="en-US" sz="3985" b="true">
                <a:solidFill>
                  <a:srgbClr val="494949"/>
                </a:solidFill>
                <a:latin typeface="Inter Medium"/>
                <a:ea typeface="Inter Medium"/>
                <a:cs typeface="Inter Medium"/>
                <a:sym typeface="Inter Medium"/>
              </a:rPr>
              <a:t>Desarrollar una plataforma, compuesta por una app móvil y un panel web, que conecte a los ciudadanos con las entidades que administran puntos de reciclaje, entregando información actualizada, un canal de reportes e incentivos por reciclar.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01598" y="852695"/>
            <a:ext cx="15466048" cy="229572"/>
          </a:xfrm>
          <a:custGeom>
            <a:avLst/>
            <a:gdLst/>
            <a:ahLst/>
            <a:cxnLst/>
            <a:rect r="r" b="b" t="t" l="l"/>
            <a:pathLst>
              <a:path h="229572" w="15466048">
                <a:moveTo>
                  <a:pt x="0" y="0"/>
                </a:moveTo>
                <a:lnTo>
                  <a:pt x="15466048" y="0"/>
                </a:lnTo>
                <a:lnTo>
                  <a:pt x="1546604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325182" y="2035860"/>
            <a:ext cx="7637637" cy="930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66"/>
              </a:lnSpc>
            </a:pPr>
            <a:r>
              <a:rPr lang="en-US" sz="6566" spc="-426" b="true">
                <a:solidFill>
                  <a:srgbClr val="4B4B4B"/>
                </a:solidFill>
                <a:latin typeface="Telegraf 2 Medium"/>
                <a:ea typeface="Telegraf 2 Medium"/>
                <a:cs typeface="Telegraf 2 Medium"/>
                <a:sym typeface="Telegraf 2 Medium"/>
              </a:rPr>
              <a:t>Objetivos específicos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793044" y="3861855"/>
            <a:ext cx="783964" cy="757858"/>
          </a:xfrm>
          <a:custGeom>
            <a:avLst/>
            <a:gdLst/>
            <a:ahLst/>
            <a:cxnLst/>
            <a:rect r="r" b="b" t="t" l="l"/>
            <a:pathLst>
              <a:path h="757858" w="783964">
                <a:moveTo>
                  <a:pt x="0" y="0"/>
                </a:moveTo>
                <a:lnTo>
                  <a:pt x="783964" y="0"/>
                </a:lnTo>
                <a:lnTo>
                  <a:pt x="783964" y="757858"/>
                </a:lnTo>
                <a:lnTo>
                  <a:pt x="0" y="7578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808341" y="3861855"/>
            <a:ext cx="269889" cy="757858"/>
          </a:xfrm>
          <a:custGeom>
            <a:avLst/>
            <a:gdLst/>
            <a:ahLst/>
            <a:cxnLst/>
            <a:rect r="r" b="b" t="t" l="l"/>
            <a:pathLst>
              <a:path h="757858" w="269889">
                <a:moveTo>
                  <a:pt x="0" y="0"/>
                </a:moveTo>
                <a:lnTo>
                  <a:pt x="269890" y="0"/>
                </a:lnTo>
                <a:lnTo>
                  <a:pt x="269890" y="757858"/>
                </a:lnTo>
                <a:lnTo>
                  <a:pt x="0" y="7578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353545" y="4072109"/>
            <a:ext cx="11556316" cy="414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9"/>
              </a:lnSpc>
            </a:pPr>
            <a:r>
              <a:rPr lang="en-US" sz="2623" spc="-105">
                <a:solidFill>
                  <a:srgbClr val="646464"/>
                </a:solidFill>
                <a:latin typeface="Inter"/>
                <a:ea typeface="Inter"/>
                <a:cs typeface="Inter"/>
                <a:sym typeface="Inter"/>
              </a:rPr>
              <a:t>Implementar un mapa de puntos con filtros por material, distancia y valoración.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793044" y="4863769"/>
            <a:ext cx="783964" cy="1014759"/>
          </a:xfrm>
          <a:custGeom>
            <a:avLst/>
            <a:gdLst/>
            <a:ahLst/>
            <a:cxnLst/>
            <a:rect r="r" b="b" t="t" l="l"/>
            <a:pathLst>
              <a:path h="1014759" w="783964">
                <a:moveTo>
                  <a:pt x="0" y="0"/>
                </a:moveTo>
                <a:lnTo>
                  <a:pt x="783964" y="0"/>
                </a:lnTo>
                <a:lnTo>
                  <a:pt x="783964" y="1014758"/>
                </a:lnTo>
                <a:lnTo>
                  <a:pt x="0" y="10147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808341" y="4863769"/>
            <a:ext cx="269889" cy="1014759"/>
          </a:xfrm>
          <a:custGeom>
            <a:avLst/>
            <a:gdLst/>
            <a:ahLst/>
            <a:cxnLst/>
            <a:rect r="r" b="b" t="t" l="l"/>
            <a:pathLst>
              <a:path h="1014759" w="269889">
                <a:moveTo>
                  <a:pt x="0" y="0"/>
                </a:moveTo>
                <a:lnTo>
                  <a:pt x="269890" y="0"/>
                </a:lnTo>
                <a:lnTo>
                  <a:pt x="269890" y="1014758"/>
                </a:lnTo>
                <a:lnTo>
                  <a:pt x="0" y="10147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374045" y="5063403"/>
            <a:ext cx="9506305" cy="414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9"/>
              </a:lnSpc>
            </a:pPr>
            <a:r>
              <a:rPr lang="en-US" sz="2669" spc="-106">
                <a:solidFill>
                  <a:srgbClr val="646464"/>
                </a:solidFill>
                <a:latin typeface="Inter"/>
                <a:ea typeface="Inter"/>
                <a:cs typeface="Inter"/>
                <a:sym typeface="Inter"/>
              </a:rPr>
              <a:t>Incorporar un modelo de IA que clasifique residuos sin conexión.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793044" y="5865682"/>
            <a:ext cx="783964" cy="1027604"/>
          </a:xfrm>
          <a:custGeom>
            <a:avLst/>
            <a:gdLst/>
            <a:ahLst/>
            <a:cxnLst/>
            <a:rect r="r" b="b" t="t" l="l"/>
            <a:pathLst>
              <a:path h="1027604" w="783964">
                <a:moveTo>
                  <a:pt x="0" y="0"/>
                </a:moveTo>
                <a:lnTo>
                  <a:pt x="783964" y="0"/>
                </a:lnTo>
                <a:lnTo>
                  <a:pt x="783964" y="1027604"/>
                </a:lnTo>
                <a:lnTo>
                  <a:pt x="0" y="10276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808341" y="5865682"/>
            <a:ext cx="269889" cy="1027604"/>
          </a:xfrm>
          <a:custGeom>
            <a:avLst/>
            <a:gdLst/>
            <a:ahLst/>
            <a:cxnLst/>
            <a:rect r="r" b="b" t="t" l="l"/>
            <a:pathLst>
              <a:path h="1027604" w="269889">
                <a:moveTo>
                  <a:pt x="0" y="0"/>
                </a:moveTo>
                <a:lnTo>
                  <a:pt x="269890" y="0"/>
                </a:lnTo>
                <a:lnTo>
                  <a:pt x="269890" y="1027604"/>
                </a:lnTo>
                <a:lnTo>
                  <a:pt x="0" y="10276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361664" y="6089502"/>
            <a:ext cx="10744497" cy="414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9"/>
              </a:lnSpc>
            </a:pPr>
            <a:r>
              <a:rPr lang="en-US" sz="2623" spc="-105">
                <a:solidFill>
                  <a:srgbClr val="646464"/>
                </a:solidFill>
                <a:latin typeface="Inter"/>
                <a:ea typeface="Inter"/>
                <a:cs typeface="Inter"/>
                <a:sym typeface="Inter"/>
              </a:rPr>
              <a:t>Construir un sistema de reportes ciudadanos con seguimiento de alertas.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793044" y="6880441"/>
            <a:ext cx="783964" cy="1014759"/>
          </a:xfrm>
          <a:custGeom>
            <a:avLst/>
            <a:gdLst/>
            <a:ahLst/>
            <a:cxnLst/>
            <a:rect r="r" b="b" t="t" l="l"/>
            <a:pathLst>
              <a:path h="1014759" w="783964">
                <a:moveTo>
                  <a:pt x="0" y="0"/>
                </a:moveTo>
                <a:lnTo>
                  <a:pt x="783964" y="0"/>
                </a:lnTo>
                <a:lnTo>
                  <a:pt x="783964" y="1014758"/>
                </a:lnTo>
                <a:lnTo>
                  <a:pt x="0" y="101475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808341" y="6880441"/>
            <a:ext cx="269889" cy="1014759"/>
          </a:xfrm>
          <a:custGeom>
            <a:avLst/>
            <a:gdLst/>
            <a:ahLst/>
            <a:cxnLst/>
            <a:rect r="r" b="b" t="t" l="l"/>
            <a:pathLst>
              <a:path h="1014759" w="269889">
                <a:moveTo>
                  <a:pt x="0" y="0"/>
                </a:moveTo>
                <a:lnTo>
                  <a:pt x="269890" y="0"/>
                </a:lnTo>
                <a:lnTo>
                  <a:pt x="269890" y="1014758"/>
                </a:lnTo>
                <a:lnTo>
                  <a:pt x="0" y="101475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404661" y="7151582"/>
            <a:ext cx="9592417" cy="414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9"/>
              </a:lnSpc>
            </a:pPr>
            <a:r>
              <a:rPr lang="en-US" sz="2669" spc="-106">
                <a:solidFill>
                  <a:srgbClr val="646464"/>
                </a:solidFill>
                <a:latin typeface="Inter"/>
                <a:ea typeface="Inter"/>
                <a:cs typeface="Inter"/>
                <a:sym typeface="Inter"/>
              </a:rPr>
              <a:t>Diseñar un sistema de puntos y niveles con validación antifraude.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793044" y="7882354"/>
            <a:ext cx="783964" cy="1027604"/>
          </a:xfrm>
          <a:custGeom>
            <a:avLst/>
            <a:gdLst/>
            <a:ahLst/>
            <a:cxnLst/>
            <a:rect r="r" b="b" t="t" l="l"/>
            <a:pathLst>
              <a:path h="1027604" w="783964">
                <a:moveTo>
                  <a:pt x="0" y="0"/>
                </a:moveTo>
                <a:lnTo>
                  <a:pt x="783964" y="0"/>
                </a:lnTo>
                <a:lnTo>
                  <a:pt x="783964" y="1027604"/>
                </a:lnTo>
                <a:lnTo>
                  <a:pt x="0" y="102760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2808341" y="7882354"/>
            <a:ext cx="269889" cy="1027604"/>
          </a:xfrm>
          <a:custGeom>
            <a:avLst/>
            <a:gdLst/>
            <a:ahLst/>
            <a:cxnLst/>
            <a:rect r="r" b="b" t="t" l="l"/>
            <a:pathLst>
              <a:path h="1027604" w="269889">
                <a:moveTo>
                  <a:pt x="0" y="0"/>
                </a:moveTo>
                <a:lnTo>
                  <a:pt x="269890" y="0"/>
                </a:lnTo>
                <a:lnTo>
                  <a:pt x="269890" y="1027604"/>
                </a:lnTo>
                <a:lnTo>
                  <a:pt x="0" y="102760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3369329" y="8142288"/>
            <a:ext cx="13125627" cy="414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9"/>
              </a:lnSpc>
            </a:pPr>
            <a:r>
              <a:rPr lang="en-US" sz="2623" spc="-105">
                <a:solidFill>
                  <a:srgbClr val="646464"/>
                </a:solidFill>
                <a:latin typeface="Inter"/>
                <a:ea typeface="Inter"/>
                <a:cs typeface="Inter"/>
                <a:sym typeface="Inter"/>
              </a:rPr>
              <a:t>Entregar a la entidad un panel de gestión con indicadores de uso y tiempos de respuesta.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735667" y="3937182"/>
            <a:ext cx="7028333" cy="4979489"/>
            <a:chOff x="0" y="0"/>
            <a:chExt cx="1088873" cy="7714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88873" cy="771453"/>
            </a:xfrm>
            <a:custGeom>
              <a:avLst/>
              <a:gdLst/>
              <a:ahLst/>
              <a:cxnLst/>
              <a:rect r="r" b="b" t="t" l="l"/>
              <a:pathLst>
                <a:path h="771453" w="1088873">
                  <a:moveTo>
                    <a:pt x="0" y="0"/>
                  </a:moveTo>
                  <a:lnTo>
                    <a:pt x="1088873" y="0"/>
                  </a:lnTo>
                  <a:lnTo>
                    <a:pt x="1088873" y="771453"/>
                  </a:lnTo>
                  <a:lnTo>
                    <a:pt x="0" y="771453"/>
                  </a:lnTo>
                  <a:close/>
                </a:path>
              </a:pathLst>
            </a:custGeom>
            <a:blipFill>
              <a:blip r:embed="rId2"/>
              <a:stretch>
                <a:fillRect l="0" t="-16582" r="0" b="-24563"/>
              </a:stretch>
            </a:blipFill>
            <a:ln w="19050" cap="sq">
              <a:solidFill>
                <a:srgbClr val="464646"/>
              </a:solidFill>
              <a:prstDash val="solid"/>
              <a:miter/>
            </a:ln>
          </p:spPr>
        </p:sp>
      </p:grpSp>
      <p:sp>
        <p:nvSpPr>
          <p:cNvPr name="AutoShape 4" id="4"/>
          <p:cNvSpPr/>
          <p:nvPr/>
        </p:nvSpPr>
        <p:spPr>
          <a:xfrm>
            <a:off x="1526447" y="1483859"/>
            <a:ext cx="1523755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524000" y="1483859"/>
            <a:ext cx="9144000" cy="0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2900118" y="1998319"/>
            <a:ext cx="12487763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90"/>
              </a:lnSpc>
              <a:spcBef>
                <a:spcPct val="0"/>
              </a:spcBef>
            </a:pPr>
            <a:r>
              <a:rPr lang="en-US" b="true" sz="9000" spc="-630" strike="noStrike" u="none">
                <a:solidFill>
                  <a:srgbClr val="464646"/>
                </a:solidFill>
                <a:latin typeface="Telegraf 1 Medium"/>
                <a:ea typeface="Telegraf 1 Medium"/>
                <a:cs typeface="Telegraf 1 Medium"/>
                <a:sym typeface="Telegraf 1 Medium"/>
              </a:rPr>
              <a:t>La solución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20419" y="3790314"/>
            <a:ext cx="7021709" cy="1353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2599" spc="-140" strike="noStrike" u="non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App móvil – Para el ciudadano</a:t>
            </a:r>
          </a:p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sz="2599" spc="-140" strike="noStrike" u="non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Informa dónde reciclar, permite reportar problemas y premia con puntos.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20419" y="5457825"/>
            <a:ext cx="7021709" cy="1353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2599" strike="noStrike" u="non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Panel web – Para la entidad administradora</a:t>
            </a:r>
          </a:p>
          <a:p>
            <a:pPr algn="just" marL="0" indent="0" lvl="0">
              <a:lnSpc>
                <a:spcPts val="3639"/>
              </a:lnSpc>
              <a:spcBef>
                <a:spcPct val="0"/>
              </a:spcBef>
            </a:pPr>
            <a:r>
              <a:rPr lang="en-US" sz="2599" strike="noStrike" u="non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Gestiona puntos, atiende alertas y configura beneficios.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20419" y="7106286"/>
            <a:ext cx="7021709" cy="1810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39"/>
              </a:lnSpc>
              <a:spcBef>
                <a:spcPct val="0"/>
              </a:spcBef>
            </a:pPr>
            <a:r>
              <a:rPr lang="en-US" sz="2599" strike="noStrike" u="non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Una misma base de datos (Supabase) comparte datos y reglas entre ambas</a:t>
            </a:r>
          </a:p>
          <a:p>
            <a:pPr algn="just" marL="0" indent="0" lvl="0">
              <a:lnSpc>
                <a:spcPts val="3639"/>
              </a:lnSpc>
              <a:spcBef>
                <a:spcPct val="0"/>
              </a:spcBef>
            </a:pPr>
            <a:r>
              <a:rPr lang="en-US" sz="2599" strike="noStrike" u="non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También participan: operadores de terreno, empresas patrocinadoras y el equipo REBIN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526447" y="1483859"/>
            <a:ext cx="1523755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524000" y="1483859"/>
            <a:ext cx="7621223" cy="0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925587" y="1767202"/>
            <a:ext cx="3730062" cy="8208187"/>
          </a:xfrm>
          <a:custGeom>
            <a:avLst/>
            <a:gdLst/>
            <a:ahLst/>
            <a:cxnLst/>
            <a:rect r="r" b="b" t="t" l="l"/>
            <a:pathLst>
              <a:path h="8208187" w="3730062">
                <a:moveTo>
                  <a:pt x="0" y="0"/>
                </a:moveTo>
                <a:lnTo>
                  <a:pt x="3730063" y="0"/>
                </a:lnTo>
                <a:lnTo>
                  <a:pt x="3730063" y="8208186"/>
                </a:lnTo>
                <a:lnTo>
                  <a:pt x="0" y="82081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26447" y="2623894"/>
            <a:ext cx="7763845" cy="1804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51"/>
              </a:lnSpc>
              <a:spcBef>
                <a:spcPct val="0"/>
              </a:spcBef>
            </a:pPr>
            <a:r>
              <a:rPr lang="en-US" b="true" sz="7199" spc="-503" strike="noStrike" u="none">
                <a:solidFill>
                  <a:srgbClr val="464646"/>
                </a:solidFill>
                <a:latin typeface="Telegraf 1 Medium"/>
                <a:ea typeface="Telegraf 1 Medium"/>
                <a:cs typeface="Telegraf 1 Medium"/>
                <a:sym typeface="Telegraf 1 Medium"/>
              </a:rPr>
              <a:t>App móvil del ciudadano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26447" y="4802045"/>
            <a:ext cx="7345003" cy="824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399" spc="-129" strike="noStrike" u="non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1.</a:t>
            </a:r>
            <a:r>
              <a:rPr lang="en-US" sz="2399" spc="-129" strike="noStrike" u="non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true" sz="2399" spc="-129" strike="noStrike" u="non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Mapa de puntos:</a:t>
            </a:r>
            <a:r>
              <a:rPr lang="en-US" sz="2399" spc="-129" strike="noStrike" u="non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 Filtra por material, distancia y valoración.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26447" y="7870185"/>
            <a:ext cx="7345003" cy="824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399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4. Puntos y comunidades: </a:t>
            </a:r>
            <a:r>
              <a:rPr lang="en-US" sz="239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Niveles, rachas y metas compartidas con tus vecinos.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26447" y="6845294"/>
            <a:ext cx="7345003" cy="824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399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3. Reportes: </a:t>
            </a:r>
            <a:r>
              <a:rPr lang="en-US" sz="239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11 categorías en un toque, con foto opcional.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26447" y="5823670"/>
            <a:ext cx="7345003" cy="824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2. Escaneo con IA: </a:t>
            </a:r>
            <a:r>
              <a:rPr lang="en-US" sz="239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La cámara dice si es reciclable y dónde va, sin conexión.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526447" y="1483859"/>
            <a:ext cx="1523755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524000" y="1483859"/>
            <a:ext cx="15240000" cy="0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2292323"/>
            <a:ext cx="8115300" cy="4048943"/>
          </a:xfrm>
          <a:custGeom>
            <a:avLst/>
            <a:gdLst/>
            <a:ahLst/>
            <a:cxnLst/>
            <a:rect r="r" b="b" t="t" l="l"/>
            <a:pathLst>
              <a:path h="4048943" w="8115300">
                <a:moveTo>
                  <a:pt x="0" y="0"/>
                </a:moveTo>
                <a:lnTo>
                  <a:pt x="8115300" y="0"/>
                </a:lnTo>
                <a:lnTo>
                  <a:pt x="8115300" y="4048942"/>
                </a:lnTo>
                <a:lnTo>
                  <a:pt x="0" y="40489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24000" y="2096360"/>
            <a:ext cx="7620000" cy="179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52"/>
              </a:lnSpc>
              <a:spcBef>
                <a:spcPct val="0"/>
              </a:spcBef>
            </a:pPr>
            <a:r>
              <a:rPr lang="en-US" b="true" sz="7200" spc="-504" strike="noStrike" u="none">
                <a:solidFill>
                  <a:srgbClr val="464646"/>
                </a:solidFill>
                <a:latin typeface="Telegraf 1 Medium"/>
                <a:ea typeface="Telegraf 1 Medium"/>
                <a:cs typeface="Telegraf 1 Medium"/>
                <a:sym typeface="Telegraf 1 Medium"/>
              </a:rPr>
              <a:t>Panel web para la entidad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26447" y="4333211"/>
            <a:ext cx="7488886" cy="1810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2599" spc="-140" strike="noStrike" u="non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1. Gestión de puntos: </a:t>
            </a:r>
            <a:r>
              <a:rPr lang="en-US" sz="2599" spc="-140" strike="noStrike" u="non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Crea, edita y da de baja, con QR descargable.</a:t>
            </a:r>
          </a:p>
          <a:p>
            <a:pPr algn="just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2599" spc="-140" strike="noStrike" u="non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2. Bandeja de alertas:</a:t>
            </a:r>
            <a:r>
              <a:rPr lang="en-US" sz="2599" spc="-140" strike="noStrike" u="non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 Reportes ciudadanos en lista y en mapa.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0" y="6696419"/>
            <a:ext cx="7679386" cy="1810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</a:pPr>
            <a:r>
              <a:rPr lang="en-US" sz="2599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3. Beneficios: </a:t>
            </a:r>
            <a:r>
              <a:rPr lang="en-US" sz="259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Descuentos financiados por empresas.</a:t>
            </a:r>
          </a:p>
          <a:p>
            <a:pPr algn="just">
              <a:lnSpc>
                <a:spcPts val="3639"/>
              </a:lnSpc>
            </a:pPr>
            <a:r>
              <a:rPr lang="en-US" sz="2599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4. Indicadores:</a:t>
            </a:r>
            <a:r>
              <a:rPr lang="en-US" sz="259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 Qué puntos reciclan más y tiempo de respuesta.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24000" y="7130933"/>
            <a:ext cx="7266714" cy="1180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Ciclo de una alerta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Recibido → En atención → Resuelto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26447" y="3731952"/>
            <a:ext cx="6605034" cy="4881831"/>
            <a:chOff x="0" y="0"/>
            <a:chExt cx="1023293" cy="7563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23293" cy="756323"/>
            </a:xfrm>
            <a:custGeom>
              <a:avLst/>
              <a:gdLst/>
              <a:ahLst/>
              <a:cxnLst/>
              <a:rect r="r" b="b" t="t" l="l"/>
              <a:pathLst>
                <a:path h="756323" w="1023293">
                  <a:moveTo>
                    <a:pt x="0" y="0"/>
                  </a:moveTo>
                  <a:lnTo>
                    <a:pt x="1023293" y="0"/>
                  </a:lnTo>
                  <a:lnTo>
                    <a:pt x="1023293" y="756323"/>
                  </a:lnTo>
                  <a:lnTo>
                    <a:pt x="0" y="756323"/>
                  </a:lnTo>
                  <a:close/>
                </a:path>
              </a:pathLst>
            </a:custGeom>
            <a:blipFill>
              <a:blip r:embed="rId2"/>
              <a:stretch>
                <a:fillRect l="0" t="0" r="-19616" b="0"/>
              </a:stretch>
            </a:blipFill>
            <a:ln w="19050" cap="sq">
              <a:solidFill>
                <a:srgbClr val="464646"/>
              </a:solidFill>
              <a:prstDash val="solid"/>
              <a:miter/>
            </a:ln>
          </p:spPr>
        </p:sp>
      </p:grpSp>
      <p:sp>
        <p:nvSpPr>
          <p:cNvPr name="AutoShape 4" id="4"/>
          <p:cNvSpPr/>
          <p:nvPr/>
        </p:nvSpPr>
        <p:spPr>
          <a:xfrm>
            <a:off x="1526447" y="1483859"/>
            <a:ext cx="1523755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V="true">
            <a:off x="1524000" y="1483859"/>
            <a:ext cx="13716000" cy="0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526447" y="2026596"/>
            <a:ext cx="15735300" cy="873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23"/>
              </a:lnSpc>
              <a:spcBef>
                <a:spcPct val="0"/>
              </a:spcBef>
            </a:pPr>
            <a:r>
              <a:rPr lang="en-US" b="true" sz="6399" spc="-447" strike="noStrike" u="none">
                <a:solidFill>
                  <a:srgbClr val="464646"/>
                </a:solidFill>
                <a:latin typeface="Telegraf 1 Medium"/>
                <a:ea typeface="Telegraf 1 Medium"/>
                <a:cs typeface="Telegraf 1 Medium"/>
                <a:sym typeface="Telegraf 1 Medium"/>
              </a:rPr>
              <a:t>Puntos y validación antifraude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881249" y="3193598"/>
            <a:ext cx="7934593" cy="2267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2599" spc="-140" strike="noStrike" u="non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Depósito validado:</a:t>
            </a:r>
            <a:r>
              <a:rPr lang="en-US" sz="2599" spc="-140" strike="noStrike" u="non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 20 puntos base </a:t>
            </a:r>
          </a:p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sz="2599" spc="-140" strike="noStrike" u="non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Niveles según puntos acumulados</a:t>
            </a:r>
          </a:p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sz="2599" spc="-140" strike="noStrike" u="non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· </a:t>
            </a:r>
            <a:r>
              <a:rPr lang="en-US" b="true" sz="2599" spc="-140" strike="noStrike" u="non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Novato      </a:t>
            </a:r>
            <a:r>
              <a:rPr lang="en-US" sz="2599" spc="-140" strike="noStrike" u="non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(0 pts)               · </a:t>
            </a:r>
            <a:r>
              <a:rPr lang="en-US" b="true" sz="2599" spc="-140" strike="noStrike" u="non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Experto</a:t>
            </a:r>
            <a:r>
              <a:rPr lang="en-US" sz="2599" spc="-140" strike="noStrike" u="non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   (1.500 pts)</a:t>
            </a:r>
          </a:p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sz="2599" spc="-140" strike="noStrike" u="non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· </a:t>
            </a:r>
            <a:r>
              <a:rPr lang="en-US" b="true" sz="2599" spc="-140" strike="noStrike" u="non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Aprendiz </a:t>
            </a:r>
            <a:r>
              <a:rPr lang="en-US" sz="2599" spc="-140" strike="noStrike" u="non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(200 pts)          </a:t>
            </a:r>
            <a:r>
              <a:rPr lang="en-US" sz="2599" spc="-140" strike="noStrike" u="non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· </a:t>
            </a:r>
            <a:r>
              <a:rPr lang="en-US" b="true" sz="2599" spc="-140" strike="noStrike" u="non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Maestro</a:t>
            </a:r>
            <a:r>
              <a:rPr lang="en-US" sz="2599" spc="-140" strike="noStrike" u="non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  (3.000 pts)</a:t>
            </a:r>
          </a:p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sz="2599" spc="-140" strike="noStrike" u="non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· </a:t>
            </a:r>
            <a:r>
              <a:rPr lang="en-US" b="true" sz="2599" spc="-140" strike="noStrike" u="non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Pro               </a:t>
            </a:r>
            <a:r>
              <a:rPr lang="en-US" sz="2599" spc="-140" strike="noStrike" u="non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(600 pts)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881249" y="5754300"/>
            <a:ext cx="7934593" cy="1810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Se valoran </a:t>
            </a:r>
            <a:r>
              <a:rPr lang="en-US" sz="2599" strike="noStrike" u="non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7 señales evaluadas en cada depósito, con QR del punto y foto tomada en el momento.</a:t>
            </a:r>
          </a:p>
          <a:p>
            <a:pPr algn="just" marL="0" indent="0" lvl="0">
              <a:lnSpc>
                <a:spcPts val="3639"/>
              </a:lnSpc>
              <a:spcBef>
                <a:spcPct val="0"/>
              </a:spcBef>
            </a:pPr>
            <a:r>
              <a:rPr lang="en-US" sz="2599" strike="noStrike" u="non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Ubicación, hora, categoría de la IA, foto repetida, límite diario y desplazamiento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881249" y="7859960"/>
            <a:ext cx="7882751" cy="1353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Todo en regla: Puntos al instante</a:t>
            </a:r>
          </a:p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Algo dudoso: Pasa a revisión humana</a:t>
            </a:r>
          </a:p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Señal falsa: Rechazo con el motivo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04925" y="1285875"/>
            <a:ext cx="15459075" cy="428625"/>
          </a:xfrm>
          <a:custGeom>
            <a:avLst/>
            <a:gdLst/>
            <a:ahLst/>
            <a:cxnLst/>
            <a:rect r="r" b="b" t="t" l="l"/>
            <a:pathLst>
              <a:path h="428625" w="15459075">
                <a:moveTo>
                  <a:pt x="0" y="0"/>
                </a:moveTo>
                <a:lnTo>
                  <a:pt x="15459075" y="0"/>
                </a:lnTo>
                <a:lnTo>
                  <a:pt x="154590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04925" y="2516505"/>
            <a:ext cx="15459075" cy="3648075"/>
          </a:xfrm>
          <a:custGeom>
            <a:avLst/>
            <a:gdLst/>
            <a:ahLst/>
            <a:cxnLst/>
            <a:rect r="r" b="b" t="t" l="l"/>
            <a:pathLst>
              <a:path h="3648075" w="15459075">
                <a:moveTo>
                  <a:pt x="0" y="0"/>
                </a:moveTo>
                <a:lnTo>
                  <a:pt x="15459075" y="0"/>
                </a:lnTo>
                <a:lnTo>
                  <a:pt x="15459075" y="3648075"/>
                </a:lnTo>
                <a:lnTo>
                  <a:pt x="0" y="364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04925" y="6593205"/>
            <a:ext cx="657225" cy="428625"/>
          </a:xfrm>
          <a:custGeom>
            <a:avLst/>
            <a:gdLst/>
            <a:ahLst/>
            <a:cxnLst/>
            <a:rect r="r" b="b" t="t" l="l"/>
            <a:pathLst>
              <a:path h="428625" w="657225">
                <a:moveTo>
                  <a:pt x="0" y="0"/>
                </a:moveTo>
                <a:lnTo>
                  <a:pt x="657225" y="0"/>
                </a:lnTo>
                <a:lnTo>
                  <a:pt x="6572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62150" y="6589318"/>
            <a:ext cx="13228999" cy="432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0"/>
              </a:lnSpc>
            </a:pPr>
            <a:r>
              <a:rPr lang="en-US" sz="2471" spc="-49" b="true">
                <a:solidFill>
                  <a:srgbClr val="666666"/>
                </a:solidFill>
                <a:latin typeface="Inter Medium"/>
                <a:ea typeface="Inter Medium"/>
                <a:cs typeface="Inter Medium"/>
                <a:sym typeface="Inter Medium"/>
              </a:rPr>
              <a:t>Desarrollo secuencial: cada etapa se termina y se valida antes de pasar a la siguiente.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304925" y="7450455"/>
            <a:ext cx="3057525" cy="1285875"/>
          </a:xfrm>
          <a:custGeom>
            <a:avLst/>
            <a:gdLst/>
            <a:ahLst/>
            <a:cxnLst/>
            <a:rect r="r" b="b" t="t" l="l"/>
            <a:pathLst>
              <a:path h="1285875" w="3057525">
                <a:moveTo>
                  <a:pt x="0" y="0"/>
                </a:moveTo>
                <a:lnTo>
                  <a:pt x="3057525" y="0"/>
                </a:lnTo>
                <a:lnTo>
                  <a:pt x="30575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33538" y="7634918"/>
            <a:ext cx="2382892" cy="935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62"/>
              </a:lnSpc>
            </a:pPr>
            <a:r>
              <a:rPr lang="en-US" b="true" sz="1694" spc="-33">
                <a:solidFill>
                  <a:srgbClr val="666666"/>
                </a:solidFill>
                <a:latin typeface="Inter Medium"/>
                <a:ea typeface="Inter Medium"/>
                <a:cs typeface="Inter Medium"/>
                <a:sym typeface="Inter Medium"/>
              </a:rPr>
              <a:t>Requerimientos: necesidades del ciudadano y la municipalidad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4133850" y="7879080"/>
            <a:ext cx="438150" cy="428625"/>
          </a:xfrm>
          <a:custGeom>
            <a:avLst/>
            <a:gdLst/>
            <a:ahLst/>
            <a:cxnLst/>
            <a:rect r="r" b="b" t="t" l="l"/>
            <a:pathLst>
              <a:path h="428625" w="438150">
                <a:moveTo>
                  <a:pt x="0" y="0"/>
                </a:moveTo>
                <a:lnTo>
                  <a:pt x="438150" y="0"/>
                </a:lnTo>
                <a:lnTo>
                  <a:pt x="4381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572000" y="7450455"/>
            <a:ext cx="2838450" cy="1285875"/>
          </a:xfrm>
          <a:custGeom>
            <a:avLst/>
            <a:gdLst/>
            <a:ahLst/>
            <a:cxnLst/>
            <a:rect r="r" b="b" t="t" l="l"/>
            <a:pathLst>
              <a:path h="1285875" w="2838450">
                <a:moveTo>
                  <a:pt x="0" y="0"/>
                </a:moveTo>
                <a:lnTo>
                  <a:pt x="2838450" y="0"/>
                </a:lnTo>
                <a:lnTo>
                  <a:pt x="28384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704344" y="7751894"/>
            <a:ext cx="2345162" cy="702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62"/>
              </a:lnSpc>
            </a:pPr>
            <a:r>
              <a:rPr lang="en-US" b="true" sz="1694" spc="-33">
                <a:solidFill>
                  <a:srgbClr val="666666"/>
                </a:solidFill>
                <a:latin typeface="Inter Medium"/>
                <a:ea typeface="Inter Medium"/>
                <a:cs typeface="Inter Medium"/>
                <a:sym typeface="Inter Medium"/>
              </a:rPr>
              <a:t>Diseño: arquitectura, base de datos y mockups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7181850" y="7879080"/>
            <a:ext cx="438150" cy="428625"/>
          </a:xfrm>
          <a:custGeom>
            <a:avLst/>
            <a:gdLst/>
            <a:ahLst/>
            <a:cxnLst/>
            <a:rect r="r" b="b" t="t" l="l"/>
            <a:pathLst>
              <a:path h="428625" w="438150">
                <a:moveTo>
                  <a:pt x="0" y="0"/>
                </a:moveTo>
                <a:lnTo>
                  <a:pt x="438150" y="0"/>
                </a:lnTo>
                <a:lnTo>
                  <a:pt x="4381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620000" y="7450455"/>
            <a:ext cx="2838450" cy="1285875"/>
          </a:xfrm>
          <a:custGeom>
            <a:avLst/>
            <a:gdLst/>
            <a:ahLst/>
            <a:cxnLst/>
            <a:rect r="r" b="b" t="t" l="l"/>
            <a:pathLst>
              <a:path h="1285875" w="2838450">
                <a:moveTo>
                  <a:pt x="0" y="0"/>
                </a:moveTo>
                <a:lnTo>
                  <a:pt x="2838450" y="0"/>
                </a:lnTo>
                <a:lnTo>
                  <a:pt x="28384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957426" y="7751599"/>
            <a:ext cx="1934999" cy="702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62"/>
              </a:lnSpc>
            </a:pPr>
            <a:r>
              <a:rPr lang="en-US" b="true" sz="1694" spc="-33">
                <a:solidFill>
                  <a:srgbClr val="666666"/>
                </a:solidFill>
                <a:latin typeface="Inter Medium"/>
                <a:ea typeface="Inter Medium"/>
                <a:cs typeface="Inter Medium"/>
                <a:sym typeface="Inter Medium"/>
              </a:rPr>
              <a:t>Desarrollo: app móvil, panel web y API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0229850" y="7879080"/>
            <a:ext cx="438150" cy="428625"/>
          </a:xfrm>
          <a:custGeom>
            <a:avLst/>
            <a:gdLst/>
            <a:ahLst/>
            <a:cxnLst/>
            <a:rect r="r" b="b" t="t" l="l"/>
            <a:pathLst>
              <a:path h="428625" w="438150">
                <a:moveTo>
                  <a:pt x="0" y="0"/>
                </a:moveTo>
                <a:lnTo>
                  <a:pt x="438150" y="0"/>
                </a:lnTo>
                <a:lnTo>
                  <a:pt x="4381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668000" y="7450455"/>
            <a:ext cx="2838450" cy="1285875"/>
          </a:xfrm>
          <a:custGeom>
            <a:avLst/>
            <a:gdLst/>
            <a:ahLst/>
            <a:cxnLst/>
            <a:rect r="r" b="b" t="t" l="l"/>
            <a:pathLst>
              <a:path h="1285875" w="2838450">
                <a:moveTo>
                  <a:pt x="0" y="0"/>
                </a:moveTo>
                <a:lnTo>
                  <a:pt x="2838450" y="0"/>
                </a:lnTo>
                <a:lnTo>
                  <a:pt x="28384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1001375" y="7634918"/>
            <a:ext cx="2112365" cy="935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62"/>
              </a:lnSpc>
            </a:pPr>
            <a:r>
              <a:rPr lang="en-US" b="true" sz="1694" spc="-33">
                <a:solidFill>
                  <a:srgbClr val="666666"/>
                </a:solidFill>
                <a:latin typeface="Inter Medium"/>
                <a:ea typeface="Inter Medium"/>
                <a:cs typeface="Inter Medium"/>
                <a:sym typeface="Inter Medium"/>
              </a:rPr>
              <a:t>Pruebas: funcionalidad, seguridad y antifraude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3277850" y="7879080"/>
            <a:ext cx="438150" cy="428625"/>
          </a:xfrm>
          <a:custGeom>
            <a:avLst/>
            <a:gdLst/>
            <a:ahLst/>
            <a:cxnLst/>
            <a:rect r="r" b="b" t="t" l="l"/>
            <a:pathLst>
              <a:path h="428625" w="438150">
                <a:moveTo>
                  <a:pt x="0" y="0"/>
                </a:moveTo>
                <a:lnTo>
                  <a:pt x="438150" y="0"/>
                </a:lnTo>
                <a:lnTo>
                  <a:pt x="4381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3496925" y="7450455"/>
            <a:ext cx="3057525" cy="1285875"/>
          </a:xfrm>
          <a:custGeom>
            <a:avLst/>
            <a:gdLst/>
            <a:ahLst/>
            <a:cxnLst/>
            <a:rect r="r" b="b" t="t" l="l"/>
            <a:pathLst>
              <a:path h="1285875" w="3057525">
                <a:moveTo>
                  <a:pt x="0" y="0"/>
                </a:moveTo>
                <a:lnTo>
                  <a:pt x="3057525" y="0"/>
                </a:lnTo>
                <a:lnTo>
                  <a:pt x="30575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4006638" y="7838431"/>
            <a:ext cx="2038099" cy="469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62"/>
              </a:lnSpc>
            </a:pPr>
            <a:r>
              <a:rPr lang="en-US" b="true" sz="1694" spc="-33">
                <a:solidFill>
                  <a:srgbClr val="666666"/>
                </a:solidFill>
                <a:latin typeface="Inter Medium"/>
                <a:ea typeface="Inter Medium"/>
                <a:cs typeface="Inter Medium"/>
                <a:sym typeface="Inter Medium"/>
              </a:rPr>
              <a:t>Implementación: piloto en La Reina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52600" y="1657350"/>
            <a:ext cx="7400925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true">
                <a:solidFill>
                  <a:srgbClr val="494949"/>
                </a:solidFill>
                <a:latin typeface="Inter Medium"/>
                <a:ea typeface="Inter Medium"/>
                <a:cs typeface="Inter Medium"/>
                <a:sym typeface="Inter Medium"/>
              </a:rPr>
              <a:t>Metodología: Cascada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857250"/>
            <a:ext cx="8058150" cy="2143125"/>
          </a:xfrm>
          <a:custGeom>
            <a:avLst/>
            <a:gdLst/>
            <a:ahLst/>
            <a:cxnLst/>
            <a:rect r="r" b="b" t="t" l="l"/>
            <a:pathLst>
              <a:path h="2143125" w="8058150">
                <a:moveTo>
                  <a:pt x="0" y="0"/>
                </a:moveTo>
                <a:lnTo>
                  <a:pt x="8058150" y="0"/>
                </a:lnTo>
                <a:lnTo>
                  <a:pt x="8058150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09279" y="1555910"/>
            <a:ext cx="4797080" cy="864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66"/>
              </a:lnSpc>
            </a:pPr>
            <a:r>
              <a:rPr lang="en-US" sz="6566" spc="-327" b="true">
                <a:solidFill>
                  <a:srgbClr val="3D3D3D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Cronograma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305550" y="0"/>
            <a:ext cx="11982450" cy="3429000"/>
          </a:xfrm>
          <a:custGeom>
            <a:avLst/>
            <a:gdLst/>
            <a:ahLst/>
            <a:cxnLst/>
            <a:rect r="r" b="b" t="t" l="l"/>
            <a:pathLst>
              <a:path h="3429000" w="11982450">
                <a:moveTo>
                  <a:pt x="0" y="0"/>
                </a:moveTo>
                <a:lnTo>
                  <a:pt x="11982450" y="0"/>
                </a:lnTo>
                <a:lnTo>
                  <a:pt x="1198245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828925" y="4067175"/>
            <a:ext cx="12201525" cy="438150"/>
          </a:xfrm>
          <a:custGeom>
            <a:avLst/>
            <a:gdLst/>
            <a:ahLst/>
            <a:cxnLst/>
            <a:rect r="r" b="b" t="t" l="l"/>
            <a:pathLst>
              <a:path h="438150" w="12201525">
                <a:moveTo>
                  <a:pt x="0" y="0"/>
                </a:moveTo>
                <a:lnTo>
                  <a:pt x="12201525" y="0"/>
                </a:lnTo>
                <a:lnTo>
                  <a:pt x="122015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171700" y="4714875"/>
            <a:ext cx="447675" cy="1076325"/>
          </a:xfrm>
          <a:custGeom>
            <a:avLst/>
            <a:gdLst/>
            <a:ahLst/>
            <a:cxnLst/>
            <a:rect r="r" b="b" t="t" l="l"/>
            <a:pathLst>
              <a:path h="1076325" w="447675">
                <a:moveTo>
                  <a:pt x="0" y="0"/>
                </a:moveTo>
                <a:lnTo>
                  <a:pt x="447675" y="0"/>
                </a:lnTo>
                <a:lnTo>
                  <a:pt x="4476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33550" y="3638550"/>
            <a:ext cx="1314450" cy="1295400"/>
          </a:xfrm>
          <a:custGeom>
            <a:avLst/>
            <a:gdLst/>
            <a:ahLst/>
            <a:cxnLst/>
            <a:rect r="r" b="b" t="t" l="l"/>
            <a:pathLst>
              <a:path h="1295400" w="1314450">
                <a:moveTo>
                  <a:pt x="0" y="0"/>
                </a:moveTo>
                <a:lnTo>
                  <a:pt x="1314450" y="0"/>
                </a:lnTo>
                <a:lnTo>
                  <a:pt x="13144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148761" y="4045781"/>
            <a:ext cx="556656" cy="505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8"/>
              </a:lnSpc>
            </a:pPr>
            <a:r>
              <a:rPr lang="en-US" b="true" sz="3928" spc="-195">
                <a:solidFill>
                  <a:srgbClr val="F4F4F4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01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209550" y="5572125"/>
            <a:ext cx="4362450" cy="2362200"/>
          </a:xfrm>
          <a:custGeom>
            <a:avLst/>
            <a:gdLst/>
            <a:ahLst/>
            <a:cxnLst/>
            <a:rect r="r" b="b" t="t" l="l"/>
            <a:pathLst>
              <a:path h="2362200" w="4362450">
                <a:moveTo>
                  <a:pt x="0" y="0"/>
                </a:moveTo>
                <a:lnTo>
                  <a:pt x="4362450" y="0"/>
                </a:lnTo>
                <a:lnTo>
                  <a:pt x="436245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28625" y="6000750"/>
            <a:ext cx="1314450" cy="1285875"/>
          </a:xfrm>
          <a:custGeom>
            <a:avLst/>
            <a:gdLst/>
            <a:ahLst/>
            <a:cxnLst/>
            <a:rect r="r" b="b" t="t" l="l"/>
            <a:pathLst>
              <a:path h="1285875" w="1314450">
                <a:moveTo>
                  <a:pt x="0" y="0"/>
                </a:moveTo>
                <a:lnTo>
                  <a:pt x="1314450" y="0"/>
                </a:lnTo>
                <a:lnTo>
                  <a:pt x="13144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47700" y="6210300"/>
            <a:ext cx="876300" cy="866775"/>
          </a:xfrm>
          <a:custGeom>
            <a:avLst/>
            <a:gdLst/>
            <a:ahLst/>
            <a:cxnLst/>
            <a:rect r="r" b="b" t="t" l="l"/>
            <a:pathLst>
              <a:path h="866775" w="876300">
                <a:moveTo>
                  <a:pt x="0" y="0"/>
                </a:moveTo>
                <a:lnTo>
                  <a:pt x="876300" y="0"/>
                </a:lnTo>
                <a:lnTo>
                  <a:pt x="876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768617" y="6036043"/>
            <a:ext cx="2625032" cy="250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3"/>
              </a:lnSpc>
            </a:pPr>
            <a:r>
              <a:rPr lang="en-US" sz="1863" spc="-92" b="true">
                <a:solidFill>
                  <a:srgbClr val="2B523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Fase 1 – Requerimientos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11035" y="6391147"/>
            <a:ext cx="2275190" cy="1245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5"/>
              </a:lnSpc>
            </a:pPr>
            <a:r>
              <a:rPr lang="en-US" sz="1617" spc="-79" b="true">
                <a:solidFill>
                  <a:srgbClr val="3D3D3D"/>
                </a:solidFill>
                <a:latin typeface="Inter Medium"/>
                <a:ea typeface="Inter Medium"/>
                <a:cs typeface="Inter Medium"/>
                <a:sym typeface="Inter Medium"/>
              </a:rPr>
              <a:t>22 ago – 30 ago:</a:t>
            </a:r>
          </a:p>
          <a:p>
            <a:pPr algn="l">
              <a:lnSpc>
                <a:spcPts val="2425"/>
              </a:lnSpc>
            </a:pPr>
            <a:r>
              <a:rPr lang="en-US" sz="1617" spc="-80" b="true">
                <a:solidFill>
                  <a:srgbClr val="3D3D3D"/>
                </a:solidFill>
                <a:latin typeface="Inter Medium"/>
                <a:ea typeface="Inter Medium"/>
                <a:cs typeface="Inter Medium"/>
                <a:sym typeface="Inter Medium"/>
              </a:rPr>
              <a:t> problema, actores, alcance y funcionalidades.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6524625" y="4714875"/>
            <a:ext cx="666750" cy="1076325"/>
          </a:xfrm>
          <a:custGeom>
            <a:avLst/>
            <a:gdLst/>
            <a:ahLst/>
            <a:cxnLst/>
            <a:rect r="r" b="b" t="t" l="l"/>
            <a:pathLst>
              <a:path h="1076325" w="666750">
                <a:moveTo>
                  <a:pt x="0" y="0"/>
                </a:moveTo>
                <a:lnTo>
                  <a:pt x="666750" y="0"/>
                </a:lnTo>
                <a:lnTo>
                  <a:pt x="6667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305550" y="3638550"/>
            <a:ext cx="1104900" cy="1295400"/>
          </a:xfrm>
          <a:custGeom>
            <a:avLst/>
            <a:gdLst/>
            <a:ahLst/>
            <a:cxnLst/>
            <a:rect r="r" b="b" t="t" l="l"/>
            <a:pathLst>
              <a:path h="1295400" w="1104900">
                <a:moveTo>
                  <a:pt x="0" y="0"/>
                </a:moveTo>
                <a:lnTo>
                  <a:pt x="1104900" y="0"/>
                </a:lnTo>
                <a:lnTo>
                  <a:pt x="11049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514250" y="4034377"/>
            <a:ext cx="666069" cy="5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70"/>
              </a:lnSpc>
            </a:pPr>
            <a:r>
              <a:rPr lang="en-US" b="true" sz="4170" spc="-207">
                <a:solidFill>
                  <a:srgbClr val="F4F4F4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02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4781550" y="5572125"/>
            <a:ext cx="4152900" cy="2362200"/>
          </a:xfrm>
          <a:custGeom>
            <a:avLst/>
            <a:gdLst/>
            <a:ahLst/>
            <a:cxnLst/>
            <a:rect r="r" b="b" t="t" l="l"/>
            <a:pathLst>
              <a:path h="2362200" w="4152900">
                <a:moveTo>
                  <a:pt x="0" y="0"/>
                </a:moveTo>
                <a:lnTo>
                  <a:pt x="4152900" y="0"/>
                </a:lnTo>
                <a:lnTo>
                  <a:pt x="415290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5000625" y="6000750"/>
            <a:ext cx="1314450" cy="1285875"/>
          </a:xfrm>
          <a:custGeom>
            <a:avLst/>
            <a:gdLst/>
            <a:ahLst/>
            <a:cxnLst/>
            <a:rect r="r" b="b" t="t" l="l"/>
            <a:pathLst>
              <a:path h="1285875" w="1314450">
                <a:moveTo>
                  <a:pt x="0" y="0"/>
                </a:moveTo>
                <a:lnTo>
                  <a:pt x="1314450" y="0"/>
                </a:lnTo>
                <a:lnTo>
                  <a:pt x="13144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219700" y="6000750"/>
            <a:ext cx="666750" cy="1076325"/>
          </a:xfrm>
          <a:custGeom>
            <a:avLst/>
            <a:gdLst/>
            <a:ahLst/>
            <a:cxnLst/>
            <a:rect r="r" b="b" t="t" l="l"/>
            <a:pathLst>
              <a:path h="1076325" w="666750">
                <a:moveTo>
                  <a:pt x="0" y="0"/>
                </a:moveTo>
                <a:lnTo>
                  <a:pt x="666750" y="0"/>
                </a:lnTo>
                <a:lnTo>
                  <a:pt x="6667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6302287" y="6025848"/>
            <a:ext cx="1993131" cy="252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916" spc="-95" b="true">
                <a:solidFill>
                  <a:srgbClr val="2B523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Fase 2 – Diseño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300573" y="6406046"/>
            <a:ext cx="2164560" cy="933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5"/>
              </a:lnSpc>
            </a:pPr>
            <a:r>
              <a:rPr lang="en-US" sz="1617" spc="-79" b="true">
                <a:solidFill>
                  <a:srgbClr val="3D3D3D"/>
                </a:solidFill>
                <a:latin typeface="Inter Medium"/>
                <a:ea typeface="Inter Medium"/>
                <a:cs typeface="Inter Medium"/>
                <a:sym typeface="Inter Medium"/>
              </a:rPr>
              <a:t>31 ago – 6 sep:</a:t>
            </a:r>
          </a:p>
          <a:p>
            <a:pPr algn="l">
              <a:lnSpc>
                <a:spcPts val="2425"/>
              </a:lnSpc>
            </a:pPr>
            <a:r>
              <a:rPr lang="en-US" sz="1617" spc="-80" b="true">
                <a:solidFill>
                  <a:srgbClr val="3D3D3D"/>
                </a:solidFill>
                <a:latin typeface="Inter Medium"/>
                <a:ea typeface="Inter Medium"/>
                <a:cs typeface="Inter Medium"/>
                <a:sym typeface="Inter Medium"/>
              </a:rPr>
              <a:t> arquitectura, modelo de datos y mockups.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0877550" y="4714875"/>
            <a:ext cx="447675" cy="1076325"/>
          </a:xfrm>
          <a:custGeom>
            <a:avLst/>
            <a:gdLst/>
            <a:ahLst/>
            <a:cxnLst/>
            <a:rect r="r" b="b" t="t" l="l"/>
            <a:pathLst>
              <a:path h="1076325" w="447675">
                <a:moveTo>
                  <a:pt x="0" y="0"/>
                </a:moveTo>
                <a:lnTo>
                  <a:pt x="447675" y="0"/>
                </a:lnTo>
                <a:lnTo>
                  <a:pt x="4476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0668000" y="3638550"/>
            <a:ext cx="1095375" cy="1295400"/>
          </a:xfrm>
          <a:custGeom>
            <a:avLst/>
            <a:gdLst/>
            <a:ahLst/>
            <a:cxnLst/>
            <a:rect r="r" b="b" t="t" l="l"/>
            <a:pathLst>
              <a:path h="1295400" w="1095375">
                <a:moveTo>
                  <a:pt x="0" y="0"/>
                </a:moveTo>
                <a:lnTo>
                  <a:pt x="1095375" y="0"/>
                </a:lnTo>
                <a:lnTo>
                  <a:pt x="109537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0902719" y="4034377"/>
            <a:ext cx="675943" cy="5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70"/>
              </a:lnSpc>
            </a:pPr>
            <a:r>
              <a:rPr lang="en-US" b="true" sz="4170" spc="-207">
                <a:solidFill>
                  <a:srgbClr val="F4F4F4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03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9144000" y="5572125"/>
            <a:ext cx="4143375" cy="2362200"/>
          </a:xfrm>
          <a:custGeom>
            <a:avLst/>
            <a:gdLst/>
            <a:ahLst/>
            <a:cxnLst/>
            <a:rect r="r" b="b" t="t" l="l"/>
            <a:pathLst>
              <a:path h="2362200" w="4143375">
                <a:moveTo>
                  <a:pt x="0" y="0"/>
                </a:moveTo>
                <a:lnTo>
                  <a:pt x="4143375" y="0"/>
                </a:lnTo>
                <a:lnTo>
                  <a:pt x="4143375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9353550" y="6000750"/>
            <a:ext cx="1314450" cy="1285875"/>
          </a:xfrm>
          <a:custGeom>
            <a:avLst/>
            <a:gdLst/>
            <a:ahLst/>
            <a:cxnLst/>
            <a:rect r="r" b="b" t="t" l="l"/>
            <a:pathLst>
              <a:path h="1285875" w="1314450">
                <a:moveTo>
                  <a:pt x="0" y="0"/>
                </a:moveTo>
                <a:lnTo>
                  <a:pt x="1314450" y="0"/>
                </a:lnTo>
                <a:lnTo>
                  <a:pt x="13144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9572625" y="6000750"/>
            <a:ext cx="885825" cy="1076325"/>
          </a:xfrm>
          <a:custGeom>
            <a:avLst/>
            <a:gdLst/>
            <a:ahLst/>
            <a:cxnLst/>
            <a:rect r="r" b="b" t="t" l="l"/>
            <a:pathLst>
              <a:path h="1076325" w="885825">
                <a:moveTo>
                  <a:pt x="0" y="0"/>
                </a:moveTo>
                <a:lnTo>
                  <a:pt x="885825" y="0"/>
                </a:lnTo>
                <a:lnTo>
                  <a:pt x="88582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0697641" y="6025848"/>
            <a:ext cx="2208734" cy="252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916" spc="-95" b="true">
                <a:solidFill>
                  <a:srgbClr val="2B523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Fase 3 – Desarrollo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734675" y="6363837"/>
            <a:ext cx="1884424" cy="1245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5"/>
              </a:lnSpc>
            </a:pPr>
            <a:r>
              <a:rPr lang="en-US" sz="1617" spc="-79" b="true">
                <a:solidFill>
                  <a:srgbClr val="3D3D3D"/>
                </a:solidFill>
                <a:latin typeface="Inter Medium"/>
                <a:ea typeface="Inter Medium"/>
                <a:cs typeface="Inter Medium"/>
                <a:sym typeface="Inter Medium"/>
              </a:rPr>
              <a:t>7 sep – 15 nov:</a:t>
            </a:r>
          </a:p>
          <a:p>
            <a:pPr algn="l">
              <a:lnSpc>
                <a:spcPts val="2425"/>
              </a:lnSpc>
            </a:pPr>
            <a:r>
              <a:rPr lang="en-US" sz="1617" spc="-80" b="true">
                <a:solidFill>
                  <a:srgbClr val="3D3D3D"/>
                </a:solidFill>
                <a:latin typeface="Inter Medium"/>
                <a:ea typeface="Inter Medium"/>
                <a:cs typeface="Inter Medium"/>
                <a:sym typeface="Inter Medium"/>
              </a:rPr>
              <a:t> app móvil, panel web, API y sistema de puntos.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5449550" y="4714875"/>
            <a:ext cx="447675" cy="1076325"/>
          </a:xfrm>
          <a:custGeom>
            <a:avLst/>
            <a:gdLst/>
            <a:ahLst/>
            <a:cxnLst/>
            <a:rect r="r" b="b" t="t" l="l"/>
            <a:pathLst>
              <a:path h="1076325" w="447675">
                <a:moveTo>
                  <a:pt x="0" y="0"/>
                </a:moveTo>
                <a:lnTo>
                  <a:pt x="447675" y="0"/>
                </a:lnTo>
                <a:lnTo>
                  <a:pt x="4476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5020925" y="3638550"/>
            <a:ext cx="1095375" cy="1295400"/>
          </a:xfrm>
          <a:custGeom>
            <a:avLst/>
            <a:gdLst/>
            <a:ahLst/>
            <a:cxnLst/>
            <a:rect r="r" b="b" t="t" l="l"/>
            <a:pathLst>
              <a:path h="1295400" w="1095375">
                <a:moveTo>
                  <a:pt x="0" y="0"/>
                </a:moveTo>
                <a:lnTo>
                  <a:pt x="1095375" y="0"/>
                </a:lnTo>
                <a:lnTo>
                  <a:pt x="109537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5233074" y="4034377"/>
            <a:ext cx="694890" cy="5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70"/>
              </a:lnSpc>
            </a:pPr>
            <a:r>
              <a:rPr lang="en-US" b="true" sz="4170" spc="-207">
                <a:solidFill>
                  <a:srgbClr val="F4F4F4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04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13277850" y="5572125"/>
            <a:ext cx="4581525" cy="2362200"/>
          </a:xfrm>
          <a:custGeom>
            <a:avLst/>
            <a:gdLst/>
            <a:ahLst/>
            <a:cxnLst/>
            <a:rect r="r" b="b" t="t" l="l"/>
            <a:pathLst>
              <a:path h="2362200" w="4581525">
                <a:moveTo>
                  <a:pt x="0" y="0"/>
                </a:moveTo>
                <a:lnTo>
                  <a:pt x="4581525" y="0"/>
                </a:lnTo>
                <a:lnTo>
                  <a:pt x="4581525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3496925" y="6000750"/>
            <a:ext cx="1314450" cy="1285875"/>
          </a:xfrm>
          <a:custGeom>
            <a:avLst/>
            <a:gdLst/>
            <a:ahLst/>
            <a:cxnLst/>
            <a:rect r="r" b="b" t="t" l="l"/>
            <a:pathLst>
              <a:path h="1285875" w="1314450">
                <a:moveTo>
                  <a:pt x="0" y="0"/>
                </a:moveTo>
                <a:lnTo>
                  <a:pt x="1314450" y="0"/>
                </a:lnTo>
                <a:lnTo>
                  <a:pt x="13144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3716000" y="6000750"/>
            <a:ext cx="876300" cy="1076325"/>
          </a:xfrm>
          <a:custGeom>
            <a:avLst/>
            <a:gdLst/>
            <a:ahLst/>
            <a:cxnLst/>
            <a:rect r="r" b="b" t="t" l="l"/>
            <a:pathLst>
              <a:path h="1076325" w="876300">
                <a:moveTo>
                  <a:pt x="0" y="0"/>
                </a:moveTo>
                <a:lnTo>
                  <a:pt x="876300" y="0"/>
                </a:lnTo>
                <a:lnTo>
                  <a:pt x="8763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4959951" y="6025848"/>
            <a:ext cx="2085292" cy="252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916" spc="-95" b="true">
                <a:solidFill>
                  <a:srgbClr val="2B523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Fase 4 – Pruebas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950448" y="6406047"/>
            <a:ext cx="2463809" cy="933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5"/>
              </a:lnSpc>
            </a:pPr>
            <a:r>
              <a:rPr lang="en-US" sz="1617" spc="-79" b="true">
                <a:solidFill>
                  <a:srgbClr val="3D3D3D"/>
                </a:solidFill>
                <a:latin typeface="Inter Medium"/>
                <a:ea typeface="Inter Medium"/>
                <a:cs typeface="Inter Medium"/>
                <a:sym typeface="Inter Medium"/>
              </a:rPr>
              <a:t>16 nov – 4 dic:</a:t>
            </a:r>
          </a:p>
          <a:p>
            <a:pPr algn="l">
              <a:lnSpc>
                <a:spcPts val="2425"/>
              </a:lnSpc>
            </a:pPr>
            <a:r>
              <a:rPr lang="en-US" sz="1617" spc="-80" b="true">
                <a:solidFill>
                  <a:srgbClr val="3D3D3D"/>
                </a:solidFill>
                <a:latin typeface="Inter Medium"/>
                <a:ea typeface="Inter Medium"/>
                <a:cs typeface="Inter Medium"/>
                <a:sym typeface="Inter Medium"/>
              </a:rPr>
              <a:t> pruebas funcionales, seguridad y ajustes.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3695700" y="8353425"/>
            <a:ext cx="10896600" cy="1504950"/>
          </a:xfrm>
          <a:custGeom>
            <a:avLst/>
            <a:gdLst/>
            <a:ahLst/>
            <a:cxnLst/>
            <a:rect r="r" b="b" t="t" l="l"/>
            <a:pathLst>
              <a:path h="1504950" w="10896600">
                <a:moveTo>
                  <a:pt x="0" y="0"/>
                </a:moveTo>
                <a:lnTo>
                  <a:pt x="10896600" y="0"/>
                </a:lnTo>
                <a:lnTo>
                  <a:pt x="108966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3914775" y="8572500"/>
            <a:ext cx="1095375" cy="1076325"/>
          </a:xfrm>
          <a:custGeom>
            <a:avLst/>
            <a:gdLst/>
            <a:ahLst/>
            <a:cxnLst/>
            <a:rect r="r" b="b" t="t" l="l"/>
            <a:pathLst>
              <a:path h="1076325" w="109537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5180690" y="8953984"/>
            <a:ext cx="4317752" cy="361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759" spc="-137" b="true">
                <a:solidFill>
                  <a:srgbClr val="3D3D3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Duración total: 15 semanas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735667" y="2500069"/>
            <a:ext cx="7028333" cy="6462993"/>
            <a:chOff x="0" y="0"/>
            <a:chExt cx="1088873" cy="10012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88873" cy="1001287"/>
            </a:xfrm>
            <a:custGeom>
              <a:avLst/>
              <a:gdLst/>
              <a:ahLst/>
              <a:cxnLst/>
              <a:rect r="r" b="b" t="t" l="l"/>
              <a:pathLst>
                <a:path h="1001287" w="1088873">
                  <a:moveTo>
                    <a:pt x="0" y="0"/>
                  </a:moveTo>
                  <a:lnTo>
                    <a:pt x="1088873" y="0"/>
                  </a:lnTo>
                  <a:lnTo>
                    <a:pt x="1088873" y="1001287"/>
                  </a:lnTo>
                  <a:lnTo>
                    <a:pt x="0" y="1001287"/>
                  </a:lnTo>
                  <a:close/>
                </a:path>
              </a:pathLst>
            </a:custGeom>
            <a:blipFill>
              <a:blip r:embed="rId2"/>
              <a:stretch>
                <a:fillRect l="0" t="-295" r="0" b="-295"/>
              </a:stretch>
            </a:blipFill>
            <a:ln w="19050" cap="sq">
              <a:solidFill>
                <a:srgbClr val="464646"/>
              </a:solidFill>
              <a:prstDash val="solid"/>
              <a:miter/>
            </a:ln>
          </p:spPr>
        </p:sp>
      </p:grpSp>
      <p:sp>
        <p:nvSpPr>
          <p:cNvPr name="AutoShape 4" id="4"/>
          <p:cNvSpPr/>
          <p:nvPr/>
        </p:nvSpPr>
        <p:spPr>
          <a:xfrm>
            <a:off x="1526447" y="1483859"/>
            <a:ext cx="1523755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524000" y="1483859"/>
            <a:ext cx="7621223" cy="0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526447" y="2623894"/>
            <a:ext cx="7763845" cy="972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51"/>
              </a:lnSpc>
              <a:spcBef>
                <a:spcPct val="0"/>
              </a:spcBef>
            </a:pPr>
            <a:r>
              <a:rPr lang="en-US" b="true" sz="7199" spc="-503" strike="noStrike" u="none">
                <a:solidFill>
                  <a:srgbClr val="464646"/>
                </a:solidFill>
                <a:latin typeface="Telegraf 1 Medium"/>
                <a:ea typeface="Telegraf 1 Medium"/>
                <a:cs typeface="Telegraf 1 Medium"/>
                <a:sym typeface="Telegraf 1 Medium"/>
              </a:rPr>
              <a:t>Arquitectura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26447" y="3798819"/>
            <a:ext cx="5903214" cy="1810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2599" spc="-140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· </a:t>
            </a:r>
            <a:r>
              <a:rPr lang="en-US" b="true" sz="2599" spc="-140" strike="noStrike" u="non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App móvil (Flutter)</a:t>
            </a:r>
            <a:r>
              <a:rPr lang="en-US" b="true" sz="2599" spc="-140" strike="noStrike" u="non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</a:p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2599" spc="-140" strike="noStrike" u="non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· Panel web (React) </a:t>
            </a:r>
          </a:p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2599" spc="-140" strike="noStrike" u="non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· Web API (Node + Express) </a:t>
            </a:r>
          </a:p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2599" spc="-140" strike="noStrike" u="non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· Supabase (PostgreSQL + PostGIS)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26447" y="5932948"/>
            <a:ext cx="7345003" cy="1353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39"/>
              </a:lnSpc>
              <a:spcBef>
                <a:spcPct val="0"/>
              </a:spcBef>
            </a:pPr>
            <a:r>
              <a:rPr lang="en-US" sz="2599" strike="noStrike" u="non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App móvil → Supabase (acceso directo con reglas de seguridad, RLS) </a:t>
            </a:r>
          </a:p>
          <a:p>
            <a:pPr algn="just" marL="0" indent="0" lvl="0">
              <a:lnSpc>
                <a:spcPts val="3639"/>
              </a:lnSpc>
              <a:spcBef>
                <a:spcPct val="0"/>
              </a:spcBef>
            </a:pPr>
            <a:r>
              <a:rPr lang="en-US" sz="2599" strike="noStrike" u="non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Panel web → Web API → Supabase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35972" y="7609983"/>
            <a:ext cx="7620000" cy="1353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La API valida el rol del usuario en cada operación. Un cambio en el panel se ve en la app en su siguiente consulta.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01598" y="852695"/>
            <a:ext cx="15466048" cy="229572"/>
          </a:xfrm>
          <a:custGeom>
            <a:avLst/>
            <a:gdLst/>
            <a:ahLst/>
            <a:cxnLst/>
            <a:rect r="r" b="b" t="t" l="l"/>
            <a:pathLst>
              <a:path h="229572" w="15466048">
                <a:moveTo>
                  <a:pt x="0" y="0"/>
                </a:moveTo>
                <a:lnTo>
                  <a:pt x="15466048" y="0"/>
                </a:lnTo>
                <a:lnTo>
                  <a:pt x="1546604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01598" y="1600650"/>
            <a:ext cx="9870439" cy="1799034"/>
          </a:xfrm>
          <a:custGeom>
            <a:avLst/>
            <a:gdLst/>
            <a:ahLst/>
            <a:cxnLst/>
            <a:rect r="r" b="b" t="t" l="l"/>
            <a:pathLst>
              <a:path h="1799034" w="9870439">
                <a:moveTo>
                  <a:pt x="0" y="0"/>
                </a:moveTo>
                <a:lnTo>
                  <a:pt x="9870439" y="0"/>
                </a:lnTo>
                <a:lnTo>
                  <a:pt x="9870439" y="1799034"/>
                </a:lnTo>
                <a:lnTo>
                  <a:pt x="0" y="17990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1703" r="-12586" b="-2170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172037" y="1600650"/>
            <a:ext cx="4352213" cy="1799034"/>
          </a:xfrm>
          <a:custGeom>
            <a:avLst/>
            <a:gdLst/>
            <a:ahLst/>
            <a:cxnLst/>
            <a:rect r="r" b="b" t="t" l="l"/>
            <a:pathLst>
              <a:path h="1799034" w="4352213">
                <a:moveTo>
                  <a:pt x="0" y="0"/>
                </a:moveTo>
                <a:lnTo>
                  <a:pt x="4352213" y="0"/>
                </a:lnTo>
                <a:lnTo>
                  <a:pt x="4352213" y="1799034"/>
                </a:lnTo>
                <a:lnTo>
                  <a:pt x="0" y="17990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301" t="-21703" r="0" b="-2170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01696" y="3753350"/>
            <a:ext cx="2977956" cy="6142799"/>
          </a:xfrm>
          <a:custGeom>
            <a:avLst/>
            <a:gdLst/>
            <a:ahLst/>
            <a:cxnLst/>
            <a:rect r="r" b="b" t="t" l="l"/>
            <a:pathLst>
              <a:path h="6142799" w="2977956">
                <a:moveTo>
                  <a:pt x="0" y="0"/>
                </a:moveTo>
                <a:lnTo>
                  <a:pt x="2977956" y="0"/>
                </a:lnTo>
                <a:lnTo>
                  <a:pt x="2977956" y="6142799"/>
                </a:lnTo>
                <a:lnTo>
                  <a:pt x="0" y="61427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866" r="0" b="-1866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64317" y="3753350"/>
            <a:ext cx="10921987" cy="6142799"/>
          </a:xfrm>
          <a:custGeom>
            <a:avLst/>
            <a:gdLst/>
            <a:ahLst/>
            <a:cxnLst/>
            <a:rect r="r" b="b" t="t" l="l"/>
            <a:pathLst>
              <a:path h="6142799" w="10921987">
                <a:moveTo>
                  <a:pt x="0" y="0"/>
                </a:moveTo>
                <a:lnTo>
                  <a:pt x="10921987" y="0"/>
                </a:lnTo>
                <a:lnTo>
                  <a:pt x="10921987" y="6142799"/>
                </a:lnTo>
                <a:lnTo>
                  <a:pt x="0" y="614279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816015" y="3850610"/>
            <a:ext cx="2474033" cy="5981112"/>
          </a:xfrm>
          <a:custGeom>
            <a:avLst/>
            <a:gdLst/>
            <a:ahLst/>
            <a:cxnLst/>
            <a:rect r="r" b="b" t="t" l="l"/>
            <a:pathLst>
              <a:path h="5981112" w="2474033">
                <a:moveTo>
                  <a:pt x="0" y="0"/>
                </a:moveTo>
                <a:lnTo>
                  <a:pt x="2474033" y="0"/>
                </a:lnTo>
                <a:lnTo>
                  <a:pt x="2474033" y="5981112"/>
                </a:lnTo>
                <a:lnTo>
                  <a:pt x="0" y="598111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740" t="-1626" r="-8783" b="-1077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831914" y="4148757"/>
            <a:ext cx="8752700" cy="5078321"/>
          </a:xfrm>
          <a:custGeom>
            <a:avLst/>
            <a:gdLst/>
            <a:ahLst/>
            <a:cxnLst/>
            <a:rect r="r" b="b" t="t" l="l"/>
            <a:pathLst>
              <a:path h="5078321" w="8752700">
                <a:moveTo>
                  <a:pt x="0" y="0"/>
                </a:moveTo>
                <a:lnTo>
                  <a:pt x="8752700" y="0"/>
                </a:lnTo>
                <a:lnTo>
                  <a:pt x="8752700" y="5078321"/>
                </a:lnTo>
                <a:lnTo>
                  <a:pt x="0" y="50783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-16289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965962" y="2108702"/>
            <a:ext cx="2149493" cy="90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45"/>
              </a:lnSpc>
            </a:pPr>
            <a:r>
              <a:rPr lang="en-US" sz="6845" spc="-548">
                <a:solidFill>
                  <a:srgbClr val="4B4B4B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Demo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24000" y="2500069"/>
            <a:ext cx="15240000" cy="4460132"/>
            <a:chOff x="0" y="0"/>
            <a:chExt cx="2361075" cy="6909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1075" cy="690991"/>
            </a:xfrm>
            <a:custGeom>
              <a:avLst/>
              <a:gdLst/>
              <a:ahLst/>
              <a:cxnLst/>
              <a:rect r="r" b="b" t="t" l="l"/>
              <a:pathLst>
                <a:path h="690991" w="2361075">
                  <a:moveTo>
                    <a:pt x="0" y="0"/>
                  </a:moveTo>
                  <a:lnTo>
                    <a:pt x="2361075" y="0"/>
                  </a:lnTo>
                  <a:lnTo>
                    <a:pt x="2361075" y="690991"/>
                  </a:lnTo>
                  <a:lnTo>
                    <a:pt x="0" y="690991"/>
                  </a:lnTo>
                  <a:close/>
                </a:path>
              </a:pathLst>
            </a:custGeom>
            <a:blipFill>
              <a:blip r:embed="rId2"/>
              <a:stretch>
                <a:fillRect l="0" t="-78046" r="0" b="-42006"/>
              </a:stretch>
            </a:blipFill>
            <a:ln w="19050" cap="sq">
              <a:solidFill>
                <a:srgbClr val="464646"/>
              </a:solidFill>
              <a:prstDash val="solid"/>
              <a:miter/>
            </a:ln>
          </p:spPr>
        </p:sp>
      </p:grpSp>
      <p:sp>
        <p:nvSpPr>
          <p:cNvPr name="AutoShape 4" id="4"/>
          <p:cNvSpPr/>
          <p:nvPr/>
        </p:nvSpPr>
        <p:spPr>
          <a:xfrm>
            <a:off x="1526447" y="1483859"/>
            <a:ext cx="1523755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524000" y="1483859"/>
            <a:ext cx="6096000" cy="0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524000" y="3930212"/>
            <a:ext cx="8605720" cy="1948073"/>
            <a:chOff x="0" y="0"/>
            <a:chExt cx="2266527" cy="51307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66527" cy="513073"/>
            </a:xfrm>
            <a:custGeom>
              <a:avLst/>
              <a:gdLst/>
              <a:ahLst/>
              <a:cxnLst/>
              <a:rect r="r" b="b" t="t" l="l"/>
              <a:pathLst>
                <a:path h="513073" w="2266527">
                  <a:moveTo>
                    <a:pt x="0" y="0"/>
                  </a:moveTo>
                  <a:lnTo>
                    <a:pt x="2266527" y="0"/>
                  </a:lnTo>
                  <a:lnTo>
                    <a:pt x="2266527" y="513073"/>
                  </a:lnTo>
                  <a:lnTo>
                    <a:pt x="0" y="513073"/>
                  </a:lnTo>
                  <a:close/>
                </a:path>
              </a:pathLst>
            </a:custGeom>
            <a:solidFill>
              <a:srgbClr val="F2F1FB"/>
            </a:solidFill>
            <a:ln w="19050" cap="sq">
              <a:solidFill>
                <a:srgbClr val="464646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266527" cy="551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887388" y="4479671"/>
            <a:ext cx="7763845" cy="972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51"/>
              </a:lnSpc>
              <a:spcBef>
                <a:spcPct val="0"/>
              </a:spcBef>
            </a:pPr>
            <a:r>
              <a:rPr lang="en-US" b="true" sz="7199" spc="-503" strike="noStrike" u="none">
                <a:solidFill>
                  <a:srgbClr val="464646"/>
                </a:solidFill>
                <a:latin typeface="Telegraf 1 Medium"/>
                <a:ea typeface="Telegraf 1 Medium"/>
                <a:cs typeface="Telegraf 1 Medium"/>
                <a:sym typeface="Telegraf 1 Medium"/>
              </a:rPr>
              <a:t>Próximos pasos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96269" y="7277511"/>
            <a:ext cx="6638849" cy="1810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2599" spc="-140" strike="noStrike" u="non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1. Modelo de IA:</a:t>
            </a:r>
            <a:r>
              <a:rPr lang="en-US" sz="2599" spc="-140" strike="noStrike" u="non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 Entrenarlo y medir tiempo y precisión en el teléfono</a:t>
            </a:r>
          </a:p>
          <a:p>
            <a:pPr algn="just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2599" spc="-140" strike="noStrike" u="non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2. Panel y API:</a:t>
            </a:r>
            <a:r>
              <a:rPr lang="en-US" sz="2599" spc="-140" strike="noStrike" u="non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 Endpoints reales y login con roles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52881" y="7277511"/>
            <a:ext cx="6638849" cy="1810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2599" strike="noStrike" u="non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3. Piloto: </a:t>
            </a:r>
            <a:r>
              <a:rPr lang="en-US" sz="2599" strike="noStrike" u="non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Confirmar la Municipalidad de La Reina</a:t>
            </a:r>
          </a:p>
          <a:p>
            <a:pPr algn="just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2599" strike="noStrike" u="non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4. Ajustes:</a:t>
            </a:r>
            <a:r>
              <a:rPr lang="en-US" sz="2599" strike="noStrike" u="none">
                <a:solidFill>
                  <a:srgbClr val="464646"/>
                </a:solidFill>
                <a:latin typeface="Inter"/>
                <a:ea typeface="Inter"/>
                <a:cs typeface="Inter"/>
                <a:sym typeface="Inter"/>
              </a:rPr>
              <a:t> Calibrar puntos y umbrales con datos reales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01598" y="1279043"/>
            <a:ext cx="15466048" cy="229572"/>
          </a:xfrm>
          <a:custGeom>
            <a:avLst/>
            <a:gdLst/>
            <a:ahLst/>
            <a:cxnLst/>
            <a:rect r="r" b="b" t="t" l="l"/>
            <a:pathLst>
              <a:path h="229572" w="15466048">
                <a:moveTo>
                  <a:pt x="0" y="0"/>
                </a:moveTo>
                <a:lnTo>
                  <a:pt x="15466048" y="0"/>
                </a:lnTo>
                <a:lnTo>
                  <a:pt x="15466048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243426">
            <a:off x="8780062" y="1857643"/>
            <a:ext cx="7623646" cy="7510275"/>
          </a:xfrm>
          <a:custGeom>
            <a:avLst/>
            <a:gdLst/>
            <a:ahLst/>
            <a:cxnLst/>
            <a:rect r="r" b="b" t="t" l="l"/>
            <a:pathLst>
              <a:path h="7510275" w="7623646">
                <a:moveTo>
                  <a:pt x="7623646" y="0"/>
                </a:moveTo>
                <a:lnTo>
                  <a:pt x="0" y="0"/>
                </a:lnTo>
                <a:lnTo>
                  <a:pt x="0" y="7510276"/>
                </a:lnTo>
                <a:lnTo>
                  <a:pt x="7623646" y="7510276"/>
                </a:lnTo>
                <a:lnTo>
                  <a:pt x="7623646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608536" y="5960464"/>
            <a:ext cx="4667415" cy="4667415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557945" y="2667344"/>
            <a:ext cx="5736266" cy="2655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78"/>
              </a:lnSpc>
              <a:spcBef>
                <a:spcPct val="0"/>
              </a:spcBef>
            </a:pPr>
            <a:r>
              <a:rPr lang="en-US" b="true" sz="4799" spc="-288" strike="noStrike" u="none">
                <a:solidFill>
                  <a:srgbClr val="4B4B4B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Más información, mejores experiencias, más reciclaje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608536" y="286011"/>
            <a:ext cx="4667415" cy="466741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591885" y="286011"/>
            <a:ext cx="4667415" cy="4667415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41533" t="0" r="-41533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591885" y="5960464"/>
            <a:ext cx="4667415" cy="466741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557945" y="6431085"/>
            <a:ext cx="5736266" cy="1810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599" spc="-77" strike="noStrike" u="none">
                <a:solidFill>
                  <a:srgbClr val="4B4B4B"/>
                </a:solidFill>
                <a:latin typeface="Inter"/>
                <a:ea typeface="Inter"/>
                <a:cs typeface="Inter"/>
                <a:sym typeface="Inter"/>
              </a:rPr>
              <a:t>REBIN le da al ciudadano orientación y recompensa, y a la municipalidad datos para actuar a tiempo.</a:t>
            </a:r>
          </a:p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01598" y="1279043"/>
            <a:ext cx="15466048" cy="437279"/>
          </a:xfrm>
          <a:custGeom>
            <a:avLst/>
            <a:gdLst/>
            <a:ahLst/>
            <a:cxnLst/>
            <a:rect r="r" b="b" t="t" l="l"/>
            <a:pathLst>
              <a:path h="437279" w="15466048">
                <a:moveTo>
                  <a:pt x="0" y="0"/>
                </a:moveTo>
                <a:lnTo>
                  <a:pt x="15466048" y="0"/>
                </a:lnTo>
                <a:lnTo>
                  <a:pt x="1546604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100440" y="2142670"/>
            <a:ext cx="667206" cy="644987"/>
          </a:xfrm>
          <a:custGeom>
            <a:avLst/>
            <a:gdLst/>
            <a:ahLst/>
            <a:cxnLst/>
            <a:rect r="r" b="b" t="t" l="l"/>
            <a:pathLst>
              <a:path h="644987" w="667206">
                <a:moveTo>
                  <a:pt x="0" y="0"/>
                </a:moveTo>
                <a:lnTo>
                  <a:pt x="667206" y="0"/>
                </a:lnTo>
                <a:lnTo>
                  <a:pt x="667206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77321" y="3324862"/>
            <a:ext cx="4965519" cy="120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45"/>
              </a:lnSpc>
            </a:pPr>
            <a:r>
              <a:rPr lang="en-US" sz="8876" spc="-728" b="true">
                <a:solidFill>
                  <a:srgbClr val="494949"/>
                </a:solidFill>
                <a:latin typeface="Inter Medium"/>
                <a:ea typeface="Inter Medium"/>
                <a:cs typeface="Inter Medium"/>
                <a:sym typeface="Inter Medium"/>
              </a:rPr>
              <a:t>GRACIAS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487732" y="2776725"/>
            <a:ext cx="8061158" cy="6231233"/>
          </a:xfrm>
          <a:custGeom>
            <a:avLst/>
            <a:gdLst/>
            <a:ahLst/>
            <a:cxnLst/>
            <a:rect r="r" b="b" t="t" l="l"/>
            <a:pathLst>
              <a:path h="6231233" w="8061158">
                <a:moveTo>
                  <a:pt x="0" y="0"/>
                </a:moveTo>
                <a:lnTo>
                  <a:pt x="8061158" y="0"/>
                </a:lnTo>
                <a:lnTo>
                  <a:pt x="8061158" y="6231232"/>
                </a:lnTo>
                <a:lnTo>
                  <a:pt x="0" y="62312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DAHXP8HzayI</dc:identifier>
  <dcterms:modified xsi:type="dcterms:W3CDTF">2011-08-01T06:04:30Z</dcterms:modified>
  <cp:revision>1</cp:revision>
  <dc:title>Presentacion ensayo Rebin</dc:title>
</cp:coreProperties>
</file>